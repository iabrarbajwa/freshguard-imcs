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8700DD7-0C7E-431B-85BE-FB86FD7CCE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B29433-55C2-4035-BD3C-B26024A303C0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2933700" cy="323850"/>
          </a:xfrm>
          <a:prstGeom prst="roundRect">
            <a:avLst>
              <a:gd name="adj" fmla="val 23529"/>
            </a:avLst>
          </a:prstGeom>
          <a:solidFill>
            <a:srgbClr val="047857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Leakage-aware fruit quality inspection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068C6C-BA5B-4AA7-9986-9A3D97D2F066}"/>
              </a:ext>
            </a:extLst>
          </p:cNvPr>
          <p:cNvSpPr>
            <a:spLocks noGrp="1"/>
          </p:cNvSpPr>
          <p:nvPr/>
        </p:nvSpPr>
        <p:spPr>
          <a:xfrm>
            <a:off x="838200" y="1638300"/>
            <a:ext cx="6054213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 dirty="0" err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FreshGuard</a:t>
            </a:r>
            <a:endParaRPr sz="4200" b="1" dirty="0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8B6B6-A522-48EE-B3D8-5C8F3059CA35}"/>
              </a:ext>
            </a:extLst>
          </p:cNvPr>
          <p:cNvSpPr>
            <a:spLocks noGrp="1"/>
          </p:cNvSpPr>
          <p:nvPr/>
        </p:nvSpPr>
        <p:spPr>
          <a:xfrm>
            <a:off x="876300" y="2524125"/>
            <a:ext cx="68580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computer vision pipeline for Good/Bad fruit inspection, with honest evaluation against near-duplicate train/test leakage.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82BBB-68DE-4F60-A388-1028A9F411F0}"/>
              </a:ext>
            </a:extLst>
          </p:cNvPr>
          <p:cNvSpPr>
            <a:spLocks noGrp="1"/>
          </p:cNvSpPr>
          <p:nvPr/>
        </p:nvSpPr>
        <p:spPr>
          <a:xfrm>
            <a:off x="876300" y="4762499"/>
            <a:ext cx="4600268" cy="7810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Abrar Mustafa</a:t>
            </a:r>
          </a:p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Student ID: 925259</a:t>
            </a:r>
            <a:endParaRPr lang="en-US" sz="16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Intelligent Monitoring and Control Systems</a:t>
            </a:r>
            <a:endParaRPr sz="1650" b="1" dirty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rcRect l="31773" r="31773"/>
          <a:stretch>
            <a:fillRect/>
          </a:stretch>
        </p:blipFill>
        <p:spPr>
          <a:xfrm>
            <a:off x="7810500" y="1485900"/>
            <a:ext cx="3009900" cy="2667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B0AA98F-D8A8-49D0-BE5C-3A230EA7EC57}"/>
              </a:ext>
            </a:extLst>
          </p:cNvPr>
          <p:cNvSpPr>
            <a:spLocks noGrp="1"/>
          </p:cNvSpPr>
          <p:nvPr/>
        </p:nvSpPr>
        <p:spPr>
          <a:xfrm>
            <a:off x="7848600" y="44386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endParaRPr sz="1200" b="0" dirty="0">
              <a:solidFill>
                <a:srgbClr val="47556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BD619D-B924-4C1F-A956-F83CC6DD9DF0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1/16</a:t>
            </a:r>
          </a:p>
        </p:txBody>
      </p:sp>
    </p:spTree>
    <p:extLst>
      <p:ext uri="{BB962C8B-B14F-4D97-AF65-F5344CB8AC3E}">
        <p14:creationId xmlns:p14="http://schemas.microsoft.com/office/powerpoint/2010/main" val="45079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1349D77-4BA4-404B-B627-24853149516E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DD46C3-05D2-42CC-9B14-8E382CBD7565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Project Story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8E98B1-BD19-4C39-AF7D-1B6E4F509F11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8A7D9C-32BC-44E8-BD50-CCD53663F950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D5802B-3F84-46C8-A330-B2DB026E7499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2/16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8FE4F3-AFC3-4F66-B625-7C27191CA756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3143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1FE0A0-A472-435F-BE39-40F58D098E02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47625" cy="196215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C74DE9-F99E-46C0-8C84-EE840E6C1B59}"/>
              </a:ext>
            </a:extLst>
          </p:cNvPr>
          <p:cNvSpPr>
            <a:spLocks noGrp="1"/>
          </p:cNvSpPr>
          <p:nvPr/>
        </p:nvSpPr>
        <p:spPr>
          <a:xfrm>
            <a:off x="933450" y="21336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A90D511-3A0C-4279-BD19-A5D5934083DC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27241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Fruit quality inspection needs a reliable way to separate Good fruit from Bad fruit before shipping.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E8D6B0-46F0-4A27-9ED6-0BA7D10456F1}"/>
              </a:ext>
            </a:extLst>
          </p:cNvPr>
          <p:cNvSpPr>
            <a:spLocks noGrp="1"/>
          </p:cNvSpPr>
          <p:nvPr/>
        </p:nvSpPr>
        <p:spPr>
          <a:xfrm>
            <a:off x="4514850" y="1962150"/>
            <a:ext cx="3143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2B6612-12CD-431E-A041-DBC0F7330DC5}"/>
              </a:ext>
            </a:extLst>
          </p:cNvPr>
          <p:cNvSpPr>
            <a:spLocks noGrp="1"/>
          </p:cNvSpPr>
          <p:nvPr/>
        </p:nvSpPr>
        <p:spPr>
          <a:xfrm>
            <a:off x="4514850" y="1962150"/>
            <a:ext cx="47625" cy="196215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74CCF3-B91C-4A5C-B3F1-8F03B722C886}"/>
              </a:ext>
            </a:extLst>
          </p:cNvPr>
          <p:cNvSpPr>
            <a:spLocks noGrp="1"/>
          </p:cNvSpPr>
          <p:nvPr/>
        </p:nvSpPr>
        <p:spPr>
          <a:xfrm>
            <a:off x="4724400" y="21336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886891-D434-450E-9B1C-9D10EFC7D24C}"/>
              </a:ext>
            </a:extLst>
          </p:cNvPr>
          <p:cNvSpPr>
            <a:spLocks noGrp="1"/>
          </p:cNvSpPr>
          <p:nvPr/>
        </p:nvSpPr>
        <p:spPr>
          <a:xfrm>
            <a:off x="4724400" y="2514600"/>
            <a:ext cx="27241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If near-duplicate fruit images appear in both train and test, evaluation can look excellent while hiding memorization.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379CDA-2806-4E0F-B486-41A3ACBFD7CA}"/>
              </a:ext>
            </a:extLst>
          </p:cNvPr>
          <p:cNvSpPr>
            <a:spLocks noGrp="1"/>
          </p:cNvSpPr>
          <p:nvPr/>
        </p:nvSpPr>
        <p:spPr>
          <a:xfrm>
            <a:off x="8305800" y="1962150"/>
            <a:ext cx="3143250" cy="196215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9C0E30-B546-4E45-A982-CECB440D9F4A}"/>
              </a:ext>
            </a:extLst>
          </p:cNvPr>
          <p:cNvSpPr>
            <a:spLocks noGrp="1"/>
          </p:cNvSpPr>
          <p:nvPr/>
        </p:nvSpPr>
        <p:spPr>
          <a:xfrm>
            <a:off x="8305800" y="1962150"/>
            <a:ext cx="47625" cy="19621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CE23C4-1840-4884-8CB6-BD739D9A9EED}"/>
              </a:ext>
            </a:extLst>
          </p:cNvPr>
          <p:cNvSpPr>
            <a:spLocks noGrp="1"/>
          </p:cNvSpPr>
          <p:nvPr/>
        </p:nvSpPr>
        <p:spPr>
          <a:xfrm>
            <a:off x="8515350" y="21336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703770-3E90-48F8-AEE1-82D74123CF25}"/>
              </a:ext>
            </a:extLst>
          </p:cNvPr>
          <p:cNvSpPr>
            <a:spLocks noGrp="1"/>
          </p:cNvSpPr>
          <p:nvPr/>
        </p:nvSpPr>
        <p:spPr>
          <a:xfrm>
            <a:off x="8515350" y="2514600"/>
            <a:ext cx="27241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FreshGuard audits leakage with perceptual hashing, then evaluates models on a clean group-aware split.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9E0412-0DC7-4094-AF76-23BBD47A0EB6}"/>
              </a:ext>
            </a:extLst>
          </p:cNvPr>
          <p:cNvSpPr>
            <a:spLocks noGrp="1"/>
          </p:cNvSpPr>
          <p:nvPr/>
        </p:nvSpPr>
        <p:spPr>
          <a:xfrm>
            <a:off x="1504950" y="4895849"/>
            <a:ext cx="9182100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1109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EC810E-A260-4F16-B475-FE48D86B0110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679AB-55CD-4B03-B265-6ABCB92790BD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Dataset and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96CC9B-01D6-4142-8DAC-9138D1D21FBE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CC0BA9-57C7-42C6-953E-E3D50E27402E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D5FE1B-4745-410D-93EE-44021C311448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3/16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5350" y="1846304"/>
            <a:ext cx="6572250" cy="2155742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9B512A-07A9-48CD-AAED-C92059974A02}"/>
              </a:ext>
            </a:extLst>
          </p:cNvPr>
          <p:cNvSpPr>
            <a:spLocks noGrp="1"/>
          </p:cNvSpPr>
          <p:nvPr/>
        </p:nvSpPr>
        <p:spPr>
          <a:xfrm>
            <a:off x="7905750" y="1790700"/>
            <a:ext cx="2476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BB322B-F110-4D08-861F-21C040295C13}"/>
              </a:ext>
            </a:extLst>
          </p:cNvPr>
          <p:cNvSpPr>
            <a:spLocks noGrp="1"/>
          </p:cNvSpPr>
          <p:nvPr/>
        </p:nvSpPr>
        <p:spPr>
          <a:xfrm>
            <a:off x="8077200" y="20002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7,200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6587EF-F9FE-4A56-A3A5-5BB65ED6E975}"/>
              </a:ext>
            </a:extLst>
          </p:cNvPr>
          <p:cNvSpPr>
            <a:spLocks noGrp="1"/>
          </p:cNvSpPr>
          <p:nvPr/>
        </p:nvSpPr>
        <p:spPr>
          <a:xfrm>
            <a:off x="8077200" y="25717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total images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53CF1BB-24F4-41FC-84AB-D91A7A223FEF}"/>
              </a:ext>
            </a:extLst>
          </p:cNvPr>
          <p:cNvSpPr>
            <a:spLocks noGrp="1"/>
          </p:cNvSpPr>
          <p:nvPr/>
        </p:nvSpPr>
        <p:spPr>
          <a:xfrm>
            <a:off x="7905750" y="3238500"/>
            <a:ext cx="2476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065883-51BA-4442-9D33-200EC10EC7E9}"/>
              </a:ext>
            </a:extLst>
          </p:cNvPr>
          <p:cNvSpPr>
            <a:spLocks noGrp="1"/>
          </p:cNvSpPr>
          <p:nvPr/>
        </p:nvSpPr>
        <p:spPr>
          <a:xfrm>
            <a:off x="8077200" y="34480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3657F3-E142-428C-9C5E-59D69A6E843E}"/>
              </a:ext>
            </a:extLst>
          </p:cNvPr>
          <p:cNvSpPr>
            <a:spLocks noGrp="1"/>
          </p:cNvSpPr>
          <p:nvPr/>
        </p:nvSpPr>
        <p:spPr>
          <a:xfrm>
            <a:off x="8077200" y="40195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classes: 6 fruits x Good/Bad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9A057-689F-4303-A650-3006203CCF26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class was capped at 600 images to keep training balanced and manageable. Mixed-quality labels were excluded because they add ambiguity.</a:t>
            </a:r>
          </a:p>
        </p:txBody>
      </p:sp>
    </p:spTree>
    <p:extLst>
      <p:ext uri="{BB962C8B-B14F-4D97-AF65-F5344CB8AC3E}">
        <p14:creationId xmlns:p14="http://schemas.microsoft.com/office/powerpoint/2010/main" val="1452087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60C373-9020-44F3-82A2-CA294238F175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E28805-4EC3-4B27-9692-E522692C1FBD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Visual Sanity Check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ECF8CD-759B-453B-B656-78FA31C455D2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BBE4C0-F71C-4777-8A07-07B32F8B9366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67AF70-A1ED-49E8-94C7-A15169B13107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4/16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5527" y="1676400"/>
            <a:ext cx="10379995" cy="33528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11BADE2-8CCE-4A8B-BC65-8FFE1CD77802}"/>
              </a:ext>
            </a:extLst>
          </p:cNvPr>
          <p:cNvSpPr>
            <a:spLocks noGrp="1"/>
          </p:cNvSpPr>
          <p:nvPr/>
        </p:nvSpPr>
        <p:spPr>
          <a:xfrm>
            <a:off x="1619250" y="5410199"/>
            <a:ext cx="8953500" cy="567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Before training, </a:t>
            </a:r>
            <a:r>
              <a:rPr lang="en-US" sz="14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</a:t>
            </a:r>
            <a:r>
              <a:rPr sz="14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checks that labels are readable: Good and Bad examples are visibly different across all six fruit types.</a:t>
            </a:r>
          </a:p>
        </p:txBody>
      </p:sp>
    </p:spTree>
    <p:extLst>
      <p:ext uri="{BB962C8B-B14F-4D97-AF65-F5344CB8AC3E}">
        <p14:creationId xmlns:p14="http://schemas.microsoft.com/office/powerpoint/2010/main" val="153007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F828B8-6C72-4A9E-B44B-65F81C3D8093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0472FC-3049-40E2-ACA3-850FA8135193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Why Naive Accuracy Can Be Misleading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D3E0F-D518-43C5-B1E0-FFE982BEDD40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D50D9A-4280-4C87-AA44-620F2E922A42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1E6207-DCC2-4E3D-9577-6ADE18AE7F8A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5/16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2166493"/>
            <a:ext cx="7239000" cy="18392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8D5EA0-50BA-4B74-AC92-5133017E15B5}"/>
              </a:ext>
            </a:extLst>
          </p:cNvPr>
          <p:cNvSpPr>
            <a:spLocks noGrp="1"/>
          </p:cNvSpPr>
          <p:nvPr/>
        </p:nvSpPr>
        <p:spPr>
          <a:xfrm>
            <a:off x="8420100" y="18478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097A55-0FDE-4B60-BE91-BA101C3F380F}"/>
              </a:ext>
            </a:extLst>
          </p:cNvPr>
          <p:cNvSpPr>
            <a:spLocks noGrp="1"/>
          </p:cNvSpPr>
          <p:nvPr/>
        </p:nvSpPr>
        <p:spPr>
          <a:xfrm>
            <a:off x="8591550" y="205740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57.31%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DAEECD-3632-49B0-96C7-1BD94BAB8834}"/>
              </a:ext>
            </a:extLst>
          </p:cNvPr>
          <p:cNvSpPr>
            <a:spLocks noGrp="1"/>
          </p:cNvSpPr>
          <p:nvPr/>
        </p:nvSpPr>
        <p:spPr>
          <a:xfrm>
            <a:off x="8591550" y="26289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naive test images with near-duplicate leakage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5473E13-D0C6-4EDE-B84B-6057D3175001}"/>
              </a:ext>
            </a:extLst>
          </p:cNvPr>
          <p:cNvSpPr>
            <a:spLocks noGrp="1"/>
          </p:cNvSpPr>
          <p:nvPr/>
        </p:nvSpPr>
        <p:spPr>
          <a:xfrm>
            <a:off x="8420100" y="33718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A614C0-011E-4431-A7ED-6C75FCCC32FA}"/>
              </a:ext>
            </a:extLst>
          </p:cNvPr>
          <p:cNvSpPr>
            <a:spLocks noGrp="1"/>
          </p:cNvSpPr>
          <p:nvPr/>
        </p:nvSpPr>
        <p:spPr>
          <a:xfrm>
            <a:off x="8591550" y="358140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619/1080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82B1B8-6D9C-4F11-903D-E153056098F7}"/>
              </a:ext>
            </a:extLst>
          </p:cNvPr>
          <p:cNvSpPr>
            <a:spLocks noGrp="1"/>
          </p:cNvSpPr>
          <p:nvPr/>
        </p:nvSpPr>
        <p:spPr>
          <a:xfrm>
            <a:off x="8591550" y="41529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leaked test images in naive split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D52E0E-8CB2-44A3-8561-2F5D679D8016}"/>
              </a:ext>
            </a:extLst>
          </p:cNvPr>
          <p:cNvSpPr>
            <a:spLocks noGrp="1"/>
          </p:cNvSpPr>
          <p:nvPr/>
        </p:nvSpPr>
        <p:spPr>
          <a:xfrm>
            <a:off x="1104900" y="5162550"/>
            <a:ext cx="1000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model may see almost the same physical fruit during training and testing. That makes performance look stronger than real-world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1499531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6E77EDE-25E5-4BE2-B8DD-06FB8C3C24B6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B2C43F-7DEB-4C89-87E8-C31EBA54BC4D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Leakage-Aware Split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26A7C0-FFEB-4CCE-AF5E-07931E3667EE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9108C5-3FCC-4860-885C-566A05B93E20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EF760E-ADCE-426A-9D00-5ABAE3C0D581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6/16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6BC048-706C-479A-8BD8-9A60748A1814}"/>
              </a:ext>
            </a:extLst>
          </p:cNvPr>
          <p:cNvSpPr>
            <a:spLocks noGrp="1"/>
          </p:cNvSpPr>
          <p:nvPr/>
        </p:nvSpPr>
        <p:spPr>
          <a:xfrm>
            <a:off x="1695450" y="1924050"/>
            <a:ext cx="685800" cy="685800"/>
          </a:xfrm>
          <a:prstGeom prst="ellipse">
            <a:avLst/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4F40ED-97A4-4A1B-9999-5759CB269340}"/>
              </a:ext>
            </a:extLst>
          </p:cNvPr>
          <p:cNvSpPr>
            <a:spLocks noGrp="1"/>
          </p:cNvSpPr>
          <p:nvPr/>
        </p:nvSpPr>
        <p:spPr>
          <a:xfrm>
            <a:off x="1695450" y="2114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6B5F92-C8B3-4DC7-8A70-335B88DD15A0}"/>
              </a:ext>
            </a:extLst>
          </p:cNvPr>
          <p:cNvSpPr>
            <a:spLocks noGrp="1"/>
          </p:cNvSpPr>
          <p:nvPr/>
        </p:nvSpPr>
        <p:spPr>
          <a:xfrm>
            <a:off x="97155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EDB0B4-F9D3-4FF5-ABED-4A2F9936E3B9}"/>
              </a:ext>
            </a:extLst>
          </p:cNvPr>
          <p:cNvSpPr>
            <a:spLocks noGrp="1"/>
          </p:cNvSpPr>
          <p:nvPr/>
        </p:nvSpPr>
        <p:spPr>
          <a:xfrm>
            <a:off x="971550" y="331470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Compute 64-bit perceptual dHash for every image.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F8EFF5-9B6B-4288-9C8F-22BAECE88482}"/>
              </a:ext>
            </a:extLst>
          </p:cNvPr>
          <p:cNvSpPr>
            <a:spLocks noGrp="1"/>
          </p:cNvSpPr>
          <p:nvPr/>
        </p:nvSpPr>
        <p:spPr>
          <a:xfrm>
            <a:off x="4438650" y="1924050"/>
            <a:ext cx="685800" cy="685800"/>
          </a:xfrm>
          <a:prstGeom prst="ellipse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F92D7-EE21-45E5-BE0B-8FBCDB28EA4B}"/>
              </a:ext>
            </a:extLst>
          </p:cNvPr>
          <p:cNvSpPr>
            <a:spLocks noGrp="1"/>
          </p:cNvSpPr>
          <p:nvPr/>
        </p:nvSpPr>
        <p:spPr>
          <a:xfrm>
            <a:off x="4438650" y="2114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01DFD-258E-4385-A8D5-DC568AE8D780}"/>
              </a:ext>
            </a:extLst>
          </p:cNvPr>
          <p:cNvSpPr>
            <a:spLocks noGrp="1"/>
          </p:cNvSpPr>
          <p:nvPr/>
        </p:nvSpPr>
        <p:spPr>
          <a:xfrm>
            <a:off x="371475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Group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41AE3C-D8DD-4186-A578-5236F2501192}"/>
              </a:ext>
            </a:extLst>
          </p:cNvPr>
          <p:cNvSpPr>
            <a:spLocks noGrp="1"/>
          </p:cNvSpPr>
          <p:nvPr/>
        </p:nvSpPr>
        <p:spPr>
          <a:xfrm>
            <a:off x="3714750" y="331470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Connect near-duplicates using Hamming distance &lt;= 5.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D7A748E-D6FB-4587-8516-A791BB906451}"/>
              </a:ext>
            </a:extLst>
          </p:cNvPr>
          <p:cNvSpPr>
            <a:spLocks noGrp="1"/>
          </p:cNvSpPr>
          <p:nvPr/>
        </p:nvSpPr>
        <p:spPr>
          <a:xfrm>
            <a:off x="7181850" y="1924050"/>
            <a:ext cx="685800" cy="685800"/>
          </a:xfrm>
          <a:prstGeom prst="ellipse">
            <a:avLst/>
          </a:prstGeom>
          <a:solidFill>
            <a:srgbClr val="FFFBE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5650DD-1161-47F2-9412-9D34B8B57DB8}"/>
              </a:ext>
            </a:extLst>
          </p:cNvPr>
          <p:cNvSpPr>
            <a:spLocks noGrp="1"/>
          </p:cNvSpPr>
          <p:nvPr/>
        </p:nvSpPr>
        <p:spPr>
          <a:xfrm>
            <a:off x="7181850" y="2114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E3580F-A643-465A-849C-3255AD40B62D}"/>
              </a:ext>
            </a:extLst>
          </p:cNvPr>
          <p:cNvSpPr>
            <a:spLocks noGrp="1"/>
          </p:cNvSpPr>
          <p:nvPr/>
        </p:nvSpPr>
        <p:spPr>
          <a:xfrm>
            <a:off x="645795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EE296A-E330-4103-AA86-1F212B02181B}"/>
              </a:ext>
            </a:extLst>
          </p:cNvPr>
          <p:cNvSpPr>
            <a:spLocks noGrp="1"/>
          </p:cNvSpPr>
          <p:nvPr/>
        </p:nvSpPr>
        <p:spPr>
          <a:xfrm>
            <a:off x="6457950" y="331470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Assign whole groups to train, validation, or test.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FFDE9B-7198-407B-AB43-B8CEC3E4D271}"/>
              </a:ext>
            </a:extLst>
          </p:cNvPr>
          <p:cNvSpPr>
            <a:spLocks noGrp="1"/>
          </p:cNvSpPr>
          <p:nvPr/>
        </p:nvSpPr>
        <p:spPr>
          <a:xfrm>
            <a:off x="9925050" y="1924050"/>
            <a:ext cx="685800" cy="685800"/>
          </a:xfrm>
          <a:prstGeom prst="ellipse">
            <a:avLst/>
          </a:prstGeom>
          <a:solidFill>
            <a:srgbClr val="FEF2F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D13D25-7561-438A-A107-2D84EE875069}"/>
              </a:ext>
            </a:extLst>
          </p:cNvPr>
          <p:cNvSpPr>
            <a:spLocks noGrp="1"/>
          </p:cNvSpPr>
          <p:nvPr/>
        </p:nvSpPr>
        <p:spPr>
          <a:xfrm>
            <a:off x="9925050" y="2114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D7A4F1-42B5-490B-9282-0C31351313F8}"/>
              </a:ext>
            </a:extLst>
          </p:cNvPr>
          <p:cNvSpPr>
            <a:spLocks noGrp="1"/>
          </p:cNvSpPr>
          <p:nvPr/>
        </p:nvSpPr>
        <p:spPr>
          <a:xfrm>
            <a:off x="920115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Re-audit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78B000-C6AE-40A4-BE3C-F89077A9F6E2}"/>
              </a:ext>
            </a:extLst>
          </p:cNvPr>
          <p:cNvSpPr>
            <a:spLocks noGrp="1"/>
          </p:cNvSpPr>
          <p:nvPr/>
        </p:nvSpPr>
        <p:spPr>
          <a:xfrm>
            <a:off x="9201150" y="3314700"/>
            <a:ext cx="21336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Confirm no near-duplicate leakage remains.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54B221-4342-47A3-A693-AAB06652EF0D}"/>
              </a:ext>
            </a:extLst>
          </p:cNvPr>
          <p:cNvSpPr>
            <a:spLocks noGrp="1"/>
          </p:cNvSpPr>
          <p:nvPr/>
        </p:nvSpPr>
        <p:spPr>
          <a:xfrm>
            <a:off x="1847850" y="4724400"/>
            <a:ext cx="2476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609BEA-4F54-4BEC-AECA-78FA107EA9EF}"/>
              </a:ext>
            </a:extLst>
          </p:cNvPr>
          <p:cNvSpPr>
            <a:spLocks noGrp="1"/>
          </p:cNvSpPr>
          <p:nvPr/>
        </p:nvSpPr>
        <p:spPr>
          <a:xfrm>
            <a:off x="2019300" y="49339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0.00%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4714E8-A18E-40D9-8FEB-E358B03F7B2F}"/>
              </a:ext>
            </a:extLst>
          </p:cNvPr>
          <p:cNvSpPr>
            <a:spLocks noGrp="1"/>
          </p:cNvSpPr>
          <p:nvPr/>
        </p:nvSpPr>
        <p:spPr>
          <a:xfrm>
            <a:off x="2019300" y="55054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leakage after group-aware split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AF919CF-4642-404D-AB1D-F6EE9D1AD9B0}"/>
              </a:ext>
            </a:extLst>
          </p:cNvPr>
          <p:cNvSpPr>
            <a:spLocks noGrp="1"/>
          </p:cNvSpPr>
          <p:nvPr/>
        </p:nvSpPr>
        <p:spPr>
          <a:xfrm>
            <a:off x="4857750" y="4724400"/>
            <a:ext cx="2476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4101DA7-E98E-4379-8FA4-E27E274AE114}"/>
              </a:ext>
            </a:extLst>
          </p:cNvPr>
          <p:cNvSpPr>
            <a:spLocks noGrp="1"/>
          </p:cNvSpPr>
          <p:nvPr/>
        </p:nvSpPr>
        <p:spPr>
          <a:xfrm>
            <a:off x="5029200" y="49339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1,083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67C983-7D91-4450-B1D6-2B897711072E}"/>
              </a:ext>
            </a:extLst>
          </p:cNvPr>
          <p:cNvSpPr>
            <a:spLocks noGrp="1"/>
          </p:cNvSpPr>
          <p:nvPr/>
        </p:nvSpPr>
        <p:spPr>
          <a:xfrm>
            <a:off x="5029200" y="55054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clean held-out test images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1A9A257-51DD-444F-9560-77C6DA4034E8}"/>
              </a:ext>
            </a:extLst>
          </p:cNvPr>
          <p:cNvSpPr>
            <a:spLocks noGrp="1"/>
          </p:cNvSpPr>
          <p:nvPr/>
        </p:nvSpPr>
        <p:spPr>
          <a:xfrm>
            <a:off x="7867650" y="4724400"/>
            <a:ext cx="2476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B50D8B-29C6-4342-9F28-506D6499725F}"/>
              </a:ext>
            </a:extLst>
          </p:cNvPr>
          <p:cNvSpPr>
            <a:spLocks noGrp="1"/>
          </p:cNvSpPr>
          <p:nvPr/>
        </p:nvSpPr>
        <p:spPr>
          <a:xfrm>
            <a:off x="8039100" y="4933950"/>
            <a:ext cx="21336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3,472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5E8710-64B6-4471-B054-EA05D547E41C}"/>
              </a:ext>
            </a:extLst>
          </p:cNvPr>
          <p:cNvSpPr>
            <a:spLocks noGrp="1"/>
          </p:cNvSpPr>
          <p:nvPr/>
        </p:nvSpPr>
        <p:spPr>
          <a:xfrm>
            <a:off x="8039100" y="55054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near-duplicate groups found</a:t>
            </a:r>
          </a:p>
        </p:txBody>
      </p:sp>
    </p:spTree>
    <p:extLst>
      <p:ext uri="{BB962C8B-B14F-4D97-AF65-F5344CB8AC3E}">
        <p14:creationId xmlns:p14="http://schemas.microsoft.com/office/powerpoint/2010/main" val="1147818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E464B3F-04CE-461B-B069-3036A7487E46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809873-2446-485E-9E30-741062180E24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End-to-End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C1EBD3-F9B4-4281-9790-59F1DAE0E74E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6E82B-CEC1-40A7-9695-23688AF45698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CFAA73-4C91-43D0-BC37-1F181C37B629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7/16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05319A0-11AA-4BD5-A2E0-A63AFFC65032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E2057C0-D8FC-44DF-BD9C-7430F8354E3B}"/>
              </a:ext>
            </a:extLst>
          </p:cNvPr>
          <p:cNvSpPr>
            <a:spLocks noGrp="1"/>
          </p:cNvSpPr>
          <p:nvPr/>
        </p:nvSpPr>
        <p:spPr>
          <a:xfrm>
            <a:off x="1085850" y="2076450"/>
            <a:ext cx="476250" cy="476250"/>
          </a:xfrm>
          <a:prstGeom prst="ellipse">
            <a:avLst/>
          </a:prstGeom>
          <a:solidFill>
            <a:srgbClr val="047857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8A3E3F-A31C-4D7D-9046-912C261FD567}"/>
              </a:ext>
            </a:extLst>
          </p:cNvPr>
          <p:cNvSpPr>
            <a:spLocks noGrp="1"/>
          </p:cNvSpPr>
          <p:nvPr/>
        </p:nvSpPr>
        <p:spPr>
          <a:xfrm>
            <a:off x="1085850" y="21907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B8D69-D409-484C-BF11-3339C30B8AC3}"/>
              </a:ext>
            </a:extLst>
          </p:cNvPr>
          <p:cNvSpPr>
            <a:spLocks noGrp="1"/>
          </p:cNvSpPr>
          <p:nvPr/>
        </p:nvSpPr>
        <p:spPr>
          <a:xfrm>
            <a:off x="1752600" y="2019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2FDB4-1970-4357-B8CC-B91CE966D890}"/>
              </a:ext>
            </a:extLst>
          </p:cNvPr>
          <p:cNvSpPr>
            <a:spLocks noGrp="1"/>
          </p:cNvSpPr>
          <p:nvPr/>
        </p:nvSpPr>
        <p:spPr>
          <a:xfrm>
            <a:off x="1752600" y="236220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Download FruitNet and store the raw dataset in Google Drive.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E85A52-861D-47DB-9FA5-E65600059184}"/>
              </a:ext>
            </a:extLst>
          </p:cNvPr>
          <p:cNvSpPr>
            <a:spLocks noGrp="1"/>
          </p:cNvSpPr>
          <p:nvPr/>
        </p:nvSpPr>
        <p:spPr>
          <a:xfrm>
            <a:off x="4476750" y="180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1B4CC72-5C35-4632-A6D7-1611563EFE66}"/>
              </a:ext>
            </a:extLst>
          </p:cNvPr>
          <p:cNvSpPr>
            <a:spLocks noGrp="1"/>
          </p:cNvSpPr>
          <p:nvPr/>
        </p:nvSpPr>
        <p:spPr>
          <a:xfrm>
            <a:off x="4686300" y="2076450"/>
            <a:ext cx="476250" cy="476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FF3CC9-A473-4A79-8FDF-F68CB2E7727A}"/>
              </a:ext>
            </a:extLst>
          </p:cNvPr>
          <p:cNvSpPr>
            <a:spLocks noGrp="1"/>
          </p:cNvSpPr>
          <p:nvPr/>
        </p:nvSpPr>
        <p:spPr>
          <a:xfrm>
            <a:off x="4686300" y="21907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E32A34-12FD-4C94-A3BD-1E8FB623034B}"/>
              </a:ext>
            </a:extLst>
          </p:cNvPr>
          <p:cNvSpPr>
            <a:spLocks noGrp="1"/>
          </p:cNvSpPr>
          <p:nvPr/>
        </p:nvSpPr>
        <p:spPr>
          <a:xfrm>
            <a:off x="5353050" y="2019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6DFBF1-6C3B-4214-82CF-73815B23CBA4}"/>
              </a:ext>
            </a:extLst>
          </p:cNvPr>
          <p:cNvSpPr>
            <a:spLocks noGrp="1"/>
          </p:cNvSpPr>
          <p:nvPr/>
        </p:nvSpPr>
        <p:spPr>
          <a:xfrm>
            <a:off x="5353050" y="236220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Keep Good/Bad fruit folders, remove ambiguous Mixed labels.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6BD2093-7D44-4D05-BC6A-F933D04B5B12}"/>
              </a:ext>
            </a:extLst>
          </p:cNvPr>
          <p:cNvSpPr>
            <a:spLocks noGrp="1"/>
          </p:cNvSpPr>
          <p:nvPr/>
        </p:nvSpPr>
        <p:spPr>
          <a:xfrm>
            <a:off x="8077200" y="180975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6E50915-7D2C-4B5D-AF0A-427CF21E8DE1}"/>
              </a:ext>
            </a:extLst>
          </p:cNvPr>
          <p:cNvSpPr>
            <a:spLocks noGrp="1"/>
          </p:cNvSpPr>
          <p:nvPr/>
        </p:nvSpPr>
        <p:spPr>
          <a:xfrm>
            <a:off x="8286750" y="2076450"/>
            <a:ext cx="476250" cy="47625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0E8516-6400-4403-A7C5-423591005646}"/>
              </a:ext>
            </a:extLst>
          </p:cNvPr>
          <p:cNvSpPr>
            <a:spLocks noGrp="1"/>
          </p:cNvSpPr>
          <p:nvPr/>
        </p:nvSpPr>
        <p:spPr>
          <a:xfrm>
            <a:off x="8286750" y="21907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A7796D-C7E3-475A-9D47-051BAC44CE1F}"/>
              </a:ext>
            </a:extLst>
          </p:cNvPr>
          <p:cNvSpPr>
            <a:spLocks noGrp="1"/>
          </p:cNvSpPr>
          <p:nvPr/>
        </p:nvSpPr>
        <p:spPr>
          <a:xfrm>
            <a:off x="8953500" y="20193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Balance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5E081E-F476-49F5-820A-49FF7BA517D9}"/>
              </a:ext>
            </a:extLst>
          </p:cNvPr>
          <p:cNvSpPr>
            <a:spLocks noGrp="1"/>
          </p:cNvSpPr>
          <p:nvPr/>
        </p:nvSpPr>
        <p:spPr>
          <a:xfrm>
            <a:off x="8953500" y="236220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Create 12 ImageFolder classes with 600 images per class.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F288CC-96E3-4CBE-9813-7F4DC293DE2D}"/>
              </a:ext>
            </a:extLst>
          </p:cNvPr>
          <p:cNvSpPr>
            <a:spLocks noGrp="1"/>
          </p:cNvSpPr>
          <p:nvPr/>
        </p:nvSpPr>
        <p:spPr>
          <a:xfrm>
            <a:off x="876300" y="35052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BC9F1EF-EF36-4F4D-ABF7-55491B23E672}"/>
              </a:ext>
            </a:extLst>
          </p:cNvPr>
          <p:cNvSpPr>
            <a:spLocks noGrp="1"/>
          </p:cNvSpPr>
          <p:nvPr/>
        </p:nvSpPr>
        <p:spPr>
          <a:xfrm>
            <a:off x="1085850" y="3771900"/>
            <a:ext cx="476250" cy="476250"/>
          </a:xfrm>
          <a:prstGeom prst="ellipse">
            <a:avLst/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89CCCF-048B-46F2-A97D-8BA33CFF66E7}"/>
              </a:ext>
            </a:extLst>
          </p:cNvPr>
          <p:cNvSpPr>
            <a:spLocks noGrp="1"/>
          </p:cNvSpPr>
          <p:nvPr/>
        </p:nvSpPr>
        <p:spPr>
          <a:xfrm>
            <a:off x="1085850" y="38862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5382FF-DBB9-442F-88A3-7364A70D47E0}"/>
              </a:ext>
            </a:extLst>
          </p:cNvPr>
          <p:cNvSpPr>
            <a:spLocks noGrp="1"/>
          </p:cNvSpPr>
          <p:nvPr/>
        </p:nvSpPr>
        <p:spPr>
          <a:xfrm>
            <a:off x="1752600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64F431-57F8-4812-A59D-AA04AB966CAD}"/>
              </a:ext>
            </a:extLst>
          </p:cNvPr>
          <p:cNvSpPr>
            <a:spLocks noGrp="1"/>
          </p:cNvSpPr>
          <p:nvPr/>
        </p:nvSpPr>
        <p:spPr>
          <a:xfrm>
            <a:off x="1752600" y="40576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Detect near-duplicates before trusting model scores.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EF0DAA3-B8BE-4B20-B6EE-F3F8666D5994}"/>
              </a:ext>
            </a:extLst>
          </p:cNvPr>
          <p:cNvSpPr>
            <a:spLocks noGrp="1"/>
          </p:cNvSpPr>
          <p:nvPr/>
        </p:nvSpPr>
        <p:spPr>
          <a:xfrm>
            <a:off x="4476750" y="35052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0EF9085-3CB7-422D-A37D-32FBB4C26545}"/>
              </a:ext>
            </a:extLst>
          </p:cNvPr>
          <p:cNvSpPr>
            <a:spLocks noGrp="1"/>
          </p:cNvSpPr>
          <p:nvPr/>
        </p:nvSpPr>
        <p:spPr>
          <a:xfrm>
            <a:off x="4686300" y="3771900"/>
            <a:ext cx="476250" cy="476250"/>
          </a:xfrm>
          <a:prstGeom prst="ellipse">
            <a:avLst/>
          </a:prstGeom>
          <a:solidFill>
            <a:srgbClr val="047857"/>
          </a:solidFill>
          <a:ln w="9525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A2B5E6-2054-43C5-8054-86C8B36E8FBD}"/>
              </a:ext>
            </a:extLst>
          </p:cNvPr>
          <p:cNvSpPr>
            <a:spLocks noGrp="1"/>
          </p:cNvSpPr>
          <p:nvPr/>
        </p:nvSpPr>
        <p:spPr>
          <a:xfrm>
            <a:off x="4686300" y="38862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2B6406-05E3-466F-AAD9-1510EFD869F5}"/>
              </a:ext>
            </a:extLst>
          </p:cNvPr>
          <p:cNvSpPr>
            <a:spLocks noGrp="1"/>
          </p:cNvSpPr>
          <p:nvPr/>
        </p:nvSpPr>
        <p:spPr>
          <a:xfrm>
            <a:off x="5353050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D90433A-0C44-4348-BF39-16EC1000E6C8}"/>
              </a:ext>
            </a:extLst>
          </p:cNvPr>
          <p:cNvSpPr>
            <a:spLocks noGrp="1"/>
          </p:cNvSpPr>
          <p:nvPr/>
        </p:nvSpPr>
        <p:spPr>
          <a:xfrm>
            <a:off x="5353050" y="40576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Fine-tune ResNet-18 and </a:t>
            </a:r>
            <a:r>
              <a:rPr sz="120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ViT</a:t>
            </a:r>
            <a:r>
              <a:rPr sz="120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-Base on the clean split.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71210D4-96C7-43EB-9A2B-F1B452DA688A}"/>
              </a:ext>
            </a:extLst>
          </p:cNvPr>
          <p:cNvSpPr>
            <a:spLocks noGrp="1"/>
          </p:cNvSpPr>
          <p:nvPr/>
        </p:nvSpPr>
        <p:spPr>
          <a:xfrm>
            <a:off x="8077200" y="35052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A38516E-9B20-4E43-8FFD-080DF22D6509}"/>
              </a:ext>
            </a:extLst>
          </p:cNvPr>
          <p:cNvSpPr>
            <a:spLocks noGrp="1"/>
          </p:cNvSpPr>
          <p:nvPr/>
        </p:nvSpPr>
        <p:spPr>
          <a:xfrm>
            <a:off x="8286750" y="3771900"/>
            <a:ext cx="476250" cy="476250"/>
          </a:xfrm>
          <a:prstGeom prst="ellipse">
            <a:avLst/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4C96BF-E125-42D1-A9A7-311C46B153FB}"/>
              </a:ext>
            </a:extLst>
          </p:cNvPr>
          <p:cNvSpPr>
            <a:spLocks noGrp="1"/>
          </p:cNvSpPr>
          <p:nvPr/>
        </p:nvSpPr>
        <p:spPr>
          <a:xfrm>
            <a:off x="8286750" y="38862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F6F3A5-CEFA-4366-8205-D344D94F5331}"/>
              </a:ext>
            </a:extLst>
          </p:cNvPr>
          <p:cNvSpPr>
            <a:spLocks noGrp="1"/>
          </p:cNvSpPr>
          <p:nvPr/>
        </p:nvSpPr>
        <p:spPr>
          <a:xfrm>
            <a:off x="8953500" y="37147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39491B-CA75-4AEA-B4D1-C34BEFF41CF8}"/>
              </a:ext>
            </a:extLst>
          </p:cNvPr>
          <p:cNvSpPr>
            <a:spLocks noGrp="1"/>
          </p:cNvSpPr>
          <p:nvPr/>
        </p:nvSpPr>
        <p:spPr>
          <a:xfrm>
            <a:off x="8953500" y="40576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Grad-CAM and LIME to check visual reasoning.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D857C2-CF29-43E9-A76B-BC1E395214A7}"/>
              </a:ext>
            </a:extLst>
          </p:cNvPr>
          <p:cNvSpPr>
            <a:spLocks noGrp="1"/>
          </p:cNvSpPr>
          <p:nvPr/>
        </p:nvSpPr>
        <p:spPr>
          <a:xfrm>
            <a:off x="1428750" y="54102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the main project logic: data quality first, model training second, trust and deployment evidence last.</a:t>
            </a:r>
          </a:p>
        </p:txBody>
      </p:sp>
    </p:spTree>
    <p:extLst>
      <p:ext uri="{BB962C8B-B14F-4D97-AF65-F5344CB8AC3E}">
        <p14:creationId xmlns:p14="http://schemas.microsoft.com/office/powerpoint/2010/main" val="657555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E946A85-E272-4677-9632-2B46AF8959F1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2475F1-810C-422D-B933-5BCB4D614332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Dataset Preparation Details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4B350-BD5B-401D-99DE-5F0514E0BD3E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BA1C6E-C864-4A89-AFF2-DA06C5291E8E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0762AC-F14F-47DD-8D19-D85DC69154A4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8/16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839983"/>
            <a:ext cx="5391150" cy="1768333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E2E85E-C034-4D41-819F-AD276958A26D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0386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32CB8F-C2AC-4468-8625-8256A2964E45}"/>
              </a:ext>
            </a:extLst>
          </p:cNvPr>
          <p:cNvSpPr>
            <a:spLocks noGrp="1"/>
          </p:cNvSpPr>
          <p:nvPr/>
        </p:nvSpPr>
        <p:spPr>
          <a:xfrm>
            <a:off x="6667500" y="1695450"/>
            <a:ext cx="47625" cy="116205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702A06-FDC4-41EA-8AE7-B765A286BA8C}"/>
              </a:ext>
            </a:extLst>
          </p:cNvPr>
          <p:cNvSpPr>
            <a:spLocks noGrp="1"/>
          </p:cNvSpPr>
          <p:nvPr/>
        </p:nvSpPr>
        <p:spPr>
          <a:xfrm>
            <a:off x="6762750" y="1759483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Folder standardization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2A61A-72F5-4968-9677-7FD7DFF1412C}"/>
              </a:ext>
            </a:extLst>
          </p:cNvPr>
          <p:cNvSpPr>
            <a:spLocks noGrp="1"/>
          </p:cNvSpPr>
          <p:nvPr/>
        </p:nvSpPr>
        <p:spPr>
          <a:xfrm>
            <a:off x="6810375" y="2102383"/>
            <a:ext cx="38957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converts the original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FruitNet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folders into a simple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ImageFolder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layout such as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Apple_Bad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Apple_Good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Banana_Bad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and </a:t>
            </a:r>
            <a:r>
              <a:rPr sz="1350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Banana_Good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D74E9A-EEB2-48F9-A41C-B30509A49ACB}"/>
              </a:ext>
            </a:extLst>
          </p:cNvPr>
          <p:cNvSpPr>
            <a:spLocks noGrp="1"/>
          </p:cNvSpPr>
          <p:nvPr/>
        </p:nvSpPr>
        <p:spPr>
          <a:xfrm>
            <a:off x="6667500" y="3105150"/>
            <a:ext cx="40386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3D4981-FAC7-4464-A105-316E90B467D8}"/>
              </a:ext>
            </a:extLst>
          </p:cNvPr>
          <p:cNvSpPr>
            <a:spLocks noGrp="1"/>
          </p:cNvSpPr>
          <p:nvPr/>
        </p:nvSpPr>
        <p:spPr>
          <a:xfrm>
            <a:off x="6667500" y="3105150"/>
            <a:ext cx="47625" cy="11620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1B792-AF82-40D3-83D4-E73711895B5E}"/>
              </a:ext>
            </a:extLst>
          </p:cNvPr>
          <p:cNvSpPr>
            <a:spLocks noGrp="1"/>
          </p:cNvSpPr>
          <p:nvPr/>
        </p:nvSpPr>
        <p:spPr>
          <a:xfrm>
            <a:off x="6762750" y="3133418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Balanced sampling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C9D6C-4FD2-431D-B269-002C5AF1BCCC}"/>
              </a:ext>
            </a:extLst>
          </p:cNvPr>
          <p:cNvSpPr>
            <a:spLocks noGrp="1"/>
          </p:cNvSpPr>
          <p:nvPr/>
        </p:nvSpPr>
        <p:spPr>
          <a:xfrm>
            <a:off x="6810375" y="3476318"/>
            <a:ext cx="3619500" cy="7086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Every class is capped at 600 images. This prevents one class from dominating training and makes model comparison fairer.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126B0C-C945-44AA-ABC0-1E10ADC90582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40386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CEEFA4-71C8-4B41-B108-E82532AF1503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47625" cy="11620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A917C9-8AF5-459F-BF47-639F142EBB30}"/>
              </a:ext>
            </a:extLst>
          </p:cNvPr>
          <p:cNvSpPr>
            <a:spLocks noGrp="1"/>
          </p:cNvSpPr>
          <p:nvPr/>
        </p:nvSpPr>
        <p:spPr>
          <a:xfrm>
            <a:off x="6762750" y="451485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Label discipline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C386A6-E1F7-4090-8EAB-B8A52941B424}"/>
              </a:ext>
            </a:extLst>
          </p:cNvPr>
          <p:cNvSpPr>
            <a:spLocks noGrp="1"/>
          </p:cNvSpPr>
          <p:nvPr/>
        </p:nvSpPr>
        <p:spPr>
          <a:xfrm>
            <a:off x="6810375" y="4830404"/>
            <a:ext cx="3619500" cy="6931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Mixed-quality folders are excluded because ambiguous labels can confuse supervised learning and weaken evaluation.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6D89CC-A7F0-4366-B247-8658D81D98B4}"/>
              </a:ext>
            </a:extLst>
          </p:cNvPr>
          <p:cNvSpPr>
            <a:spLocks noGrp="1"/>
          </p:cNvSpPr>
          <p:nvPr/>
        </p:nvSpPr>
        <p:spPr>
          <a:xfrm>
            <a:off x="1066800" y="4381499"/>
            <a:ext cx="4819650" cy="8197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/>
                <a:ea typeface="Aptos Display"/>
                <a:cs typeface="Aptos Display"/>
              </a:rPr>
              <a:t>Prepared dataset: 12 classes x 600 images = 7,200 images.</a:t>
            </a:r>
          </a:p>
        </p:txBody>
      </p:sp>
    </p:spTree>
    <p:extLst>
      <p:ext uri="{BB962C8B-B14F-4D97-AF65-F5344CB8AC3E}">
        <p14:creationId xmlns:p14="http://schemas.microsoft.com/office/powerpoint/2010/main" val="1958981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7F5E71D-511A-414C-A988-9F6373E0F68F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E9E7A4-6F7B-4E18-8327-22F3C0547E17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Leakage Audit Mechanics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064AB2-130D-408F-8A63-405FBB8D5056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8B85C1-1B7D-4B4E-8BEF-548400FB659B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60D17C-B8A9-4EEB-B0E1-A386E2D98CC2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9/16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888338-27E6-438D-B65F-70B3B9482D21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CDEA8B-0D8B-473A-ADE1-8E5E1757CD1A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47625" cy="165735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519C12-A93A-4C88-B182-F86118F24288}"/>
              </a:ext>
            </a:extLst>
          </p:cNvPr>
          <p:cNvSpPr>
            <a:spLocks noGrp="1"/>
          </p:cNvSpPr>
          <p:nvPr/>
        </p:nvSpPr>
        <p:spPr>
          <a:xfrm>
            <a:off x="1085850" y="20574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dHash fingerprint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9B7F4B-FD32-4829-9BA0-993769DE5EBF}"/>
              </a:ext>
            </a:extLst>
          </p:cNvPr>
          <p:cNvSpPr>
            <a:spLocks noGrp="1"/>
          </p:cNvSpPr>
          <p:nvPr/>
        </p:nvSpPr>
        <p:spPr>
          <a:xfrm>
            <a:off x="1085850" y="2438400"/>
            <a:ext cx="27241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image is converted into a compact 64-bit perceptual hash. Visually similar images produce similar hash patterns.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333CB8-6BE9-4663-B4D4-9C3882C2B617}"/>
              </a:ext>
            </a:extLst>
          </p:cNvPr>
          <p:cNvSpPr>
            <a:spLocks noGrp="1"/>
          </p:cNvSpPr>
          <p:nvPr/>
        </p:nvSpPr>
        <p:spPr>
          <a:xfrm>
            <a:off x="4533900" y="188595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5AF23-C528-4589-A50A-D727F2826CF0}"/>
              </a:ext>
            </a:extLst>
          </p:cNvPr>
          <p:cNvSpPr>
            <a:spLocks noGrp="1"/>
          </p:cNvSpPr>
          <p:nvPr/>
        </p:nvSpPr>
        <p:spPr>
          <a:xfrm>
            <a:off x="4533900" y="1885950"/>
            <a:ext cx="47625" cy="16573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342B75-BEC5-40B8-BA9D-8AC333227FEC}"/>
              </a:ext>
            </a:extLst>
          </p:cNvPr>
          <p:cNvSpPr>
            <a:spLocks noGrp="1"/>
          </p:cNvSpPr>
          <p:nvPr/>
        </p:nvSpPr>
        <p:spPr>
          <a:xfrm>
            <a:off x="4743450" y="20574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Hamming distance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492019-6D2E-41A5-9222-4ABF18366DB6}"/>
              </a:ext>
            </a:extLst>
          </p:cNvPr>
          <p:cNvSpPr>
            <a:spLocks noGrp="1"/>
          </p:cNvSpPr>
          <p:nvPr/>
        </p:nvSpPr>
        <p:spPr>
          <a:xfrm>
            <a:off x="4743450" y="2438400"/>
            <a:ext cx="27241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lang="en-US" sz="135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It 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compares hashes and treats distance &lt;= 5 as a near-duplicate signal.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AB2D0FC-926B-4CDE-8BCA-DFB2E2AA0A60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02C631-71AA-4643-8030-59EA8506F604}"/>
              </a:ext>
            </a:extLst>
          </p:cNvPr>
          <p:cNvSpPr>
            <a:spLocks noGrp="1"/>
          </p:cNvSpPr>
          <p:nvPr/>
        </p:nvSpPr>
        <p:spPr>
          <a:xfrm>
            <a:off x="8191500" y="1885950"/>
            <a:ext cx="47625" cy="165735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08EC55-BEC6-476B-BD6B-E48F8E1DEB6D}"/>
              </a:ext>
            </a:extLst>
          </p:cNvPr>
          <p:cNvSpPr>
            <a:spLocks noGrp="1"/>
          </p:cNvSpPr>
          <p:nvPr/>
        </p:nvSpPr>
        <p:spPr>
          <a:xfrm>
            <a:off x="8401050" y="20574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F4597C-A1B5-4BEC-97DE-C4D20107F368}"/>
              </a:ext>
            </a:extLst>
          </p:cNvPr>
          <p:cNvSpPr>
            <a:spLocks noGrp="1"/>
          </p:cNvSpPr>
          <p:nvPr/>
        </p:nvSpPr>
        <p:spPr>
          <a:xfrm>
            <a:off x="8401050" y="2438400"/>
            <a:ext cx="27241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test image with a near-duplicate in training can reward memorization instead of generalization.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8805A2B-A778-4A69-8B9D-EBA2921FF66B}"/>
              </a:ext>
            </a:extLst>
          </p:cNvPr>
          <p:cNvSpPr>
            <a:spLocks noGrp="1"/>
          </p:cNvSpPr>
          <p:nvPr/>
        </p:nvSpPr>
        <p:spPr>
          <a:xfrm>
            <a:off x="1581150" y="42862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689432-0AA8-4E6F-ABE9-02A30D9DAA32}"/>
              </a:ext>
            </a:extLst>
          </p:cNvPr>
          <p:cNvSpPr>
            <a:spLocks noGrp="1"/>
          </p:cNvSpPr>
          <p:nvPr/>
        </p:nvSpPr>
        <p:spPr>
          <a:xfrm>
            <a:off x="1752600" y="449580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57.31%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025477-FBA2-4D00-80E4-3BF2BBA3046C}"/>
              </a:ext>
            </a:extLst>
          </p:cNvPr>
          <p:cNvSpPr>
            <a:spLocks noGrp="1"/>
          </p:cNvSpPr>
          <p:nvPr/>
        </p:nvSpPr>
        <p:spPr>
          <a:xfrm>
            <a:off x="1752600" y="50673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leakage in naive test split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4B82EF-245C-4C3D-B630-9F9E4B5D3B14}"/>
              </a:ext>
            </a:extLst>
          </p:cNvPr>
          <p:cNvSpPr>
            <a:spLocks noGrp="1"/>
          </p:cNvSpPr>
          <p:nvPr/>
        </p:nvSpPr>
        <p:spPr>
          <a:xfrm>
            <a:off x="4914900" y="42862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AC93E1-9A74-457E-9D62-B07E2D1069C6}"/>
              </a:ext>
            </a:extLst>
          </p:cNvPr>
          <p:cNvSpPr>
            <a:spLocks noGrp="1"/>
          </p:cNvSpPr>
          <p:nvPr/>
        </p:nvSpPr>
        <p:spPr>
          <a:xfrm>
            <a:off x="5086350" y="449580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417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4D8D7E-E551-4915-9E6C-64239DFCE7B3}"/>
              </a:ext>
            </a:extLst>
          </p:cNvPr>
          <p:cNvSpPr>
            <a:spLocks noGrp="1"/>
          </p:cNvSpPr>
          <p:nvPr/>
        </p:nvSpPr>
        <p:spPr>
          <a:xfrm>
            <a:off x="5086350" y="50673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largest near-duplicate group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29986DE-65EA-4510-8422-DB8D427A2399}"/>
              </a:ext>
            </a:extLst>
          </p:cNvPr>
          <p:cNvSpPr>
            <a:spLocks noGrp="1"/>
          </p:cNvSpPr>
          <p:nvPr/>
        </p:nvSpPr>
        <p:spPr>
          <a:xfrm>
            <a:off x="8248650" y="4286250"/>
            <a:ext cx="23812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40983B-0F0F-4744-B385-3EC09A8F061D}"/>
              </a:ext>
            </a:extLst>
          </p:cNvPr>
          <p:cNvSpPr>
            <a:spLocks noGrp="1"/>
          </p:cNvSpPr>
          <p:nvPr/>
        </p:nvSpPr>
        <p:spPr>
          <a:xfrm>
            <a:off x="8420100" y="4495800"/>
            <a:ext cx="20383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0.00%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FCFDCDA-4360-4797-8570-F70DBED6299A}"/>
              </a:ext>
            </a:extLst>
          </p:cNvPr>
          <p:cNvSpPr>
            <a:spLocks noGrp="1"/>
          </p:cNvSpPr>
          <p:nvPr/>
        </p:nvSpPr>
        <p:spPr>
          <a:xfrm>
            <a:off x="8420100" y="50673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leakage after clean split</a:t>
            </a:r>
          </a:p>
        </p:txBody>
      </p:sp>
    </p:spTree>
    <p:extLst>
      <p:ext uri="{BB962C8B-B14F-4D97-AF65-F5344CB8AC3E}">
        <p14:creationId xmlns:p14="http://schemas.microsoft.com/office/powerpoint/2010/main" val="62887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E17A566-4F3B-4ADD-8AB8-F9227B33442C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09AD2A-0603-47FD-BFCA-9819A0256416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Clean Split Strategy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D4ED6-6F78-4ED0-AB11-C89E0AF53D90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91065-21AC-4077-87AA-E14600CF0123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1584E0-00E9-424B-BF3A-D64E0811F200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10/16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D18995-12AF-4A14-BD23-FE8434154329}"/>
              </a:ext>
            </a:extLst>
          </p:cNvPr>
          <p:cNvSpPr>
            <a:spLocks noGrp="1"/>
          </p:cNvSpPr>
          <p:nvPr/>
        </p:nvSpPr>
        <p:spPr>
          <a:xfrm>
            <a:off x="1066800" y="1885950"/>
            <a:ext cx="10058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6D1C9B-6EB4-40C5-8944-F2C9E460B81F}"/>
              </a:ext>
            </a:extLst>
          </p:cNvPr>
          <p:cNvSpPr>
            <a:spLocks noGrp="1"/>
          </p:cNvSpPr>
          <p:nvPr/>
        </p:nvSpPr>
        <p:spPr>
          <a:xfrm>
            <a:off x="1371600" y="20955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Naive 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B1ED85-218B-4331-BB70-E152DADC2336}"/>
              </a:ext>
            </a:extLst>
          </p:cNvPr>
          <p:cNvSpPr>
            <a:spLocks noGrp="1"/>
          </p:cNvSpPr>
          <p:nvPr/>
        </p:nvSpPr>
        <p:spPr>
          <a:xfrm>
            <a:off x="3790950" y="20955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5,040 train | 1,080 val | 1,080 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CC56A0-E485-4061-AC58-B04756924866}"/>
              </a:ext>
            </a:extLst>
          </p:cNvPr>
          <p:cNvSpPr>
            <a:spLocks noGrp="1"/>
          </p:cNvSpPr>
          <p:nvPr/>
        </p:nvSpPr>
        <p:spPr>
          <a:xfrm>
            <a:off x="7239000" y="20574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Class-balanced, but near-duplicate leakage remains.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4CDA4A-C184-4967-8A7A-19CB24B9F778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10058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09EB17-0899-497C-8632-F6DC34A4C053}"/>
              </a:ext>
            </a:extLst>
          </p:cNvPr>
          <p:cNvSpPr>
            <a:spLocks noGrp="1"/>
          </p:cNvSpPr>
          <p:nvPr/>
        </p:nvSpPr>
        <p:spPr>
          <a:xfrm>
            <a:off x="1371600" y="32956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Group-aware split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B43052-C8F3-41CC-958E-CBA736A458D5}"/>
              </a:ext>
            </a:extLst>
          </p:cNvPr>
          <p:cNvSpPr>
            <a:spLocks noGrp="1"/>
          </p:cNvSpPr>
          <p:nvPr/>
        </p:nvSpPr>
        <p:spPr>
          <a:xfrm>
            <a:off x="3790950" y="32956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5,213 train | 904 val | 1,083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1F07D4-6F70-49D4-B454-76E32369E41D}"/>
              </a:ext>
            </a:extLst>
          </p:cNvPr>
          <p:cNvSpPr>
            <a:spLocks noGrp="1"/>
          </p:cNvSpPr>
          <p:nvPr/>
        </p:nvSpPr>
        <p:spPr>
          <a:xfrm>
            <a:off x="7239000" y="32575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Near-duplicate groups stay together in one split.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BE9944-D381-486B-BCFD-725CFFB4F13B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100584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087553-BA1D-4BC5-B1A1-46F4C03A1899}"/>
              </a:ext>
            </a:extLst>
          </p:cNvPr>
          <p:cNvSpPr>
            <a:spLocks noGrp="1"/>
          </p:cNvSpPr>
          <p:nvPr/>
        </p:nvSpPr>
        <p:spPr>
          <a:xfrm>
            <a:off x="1371600" y="44958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Re-audit result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8361E5-4234-40E3-95C2-9D567DF0BAF0}"/>
              </a:ext>
            </a:extLst>
          </p:cNvPr>
          <p:cNvSpPr>
            <a:spLocks noGrp="1"/>
          </p:cNvSpPr>
          <p:nvPr/>
        </p:nvSpPr>
        <p:spPr>
          <a:xfrm>
            <a:off x="3790950" y="44958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0 / 1,083 leaked test images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F63DED5-4C04-4556-B202-506C1E4D3EAC}"/>
              </a:ext>
            </a:extLst>
          </p:cNvPr>
          <p:cNvSpPr>
            <a:spLocks noGrp="1"/>
          </p:cNvSpPr>
          <p:nvPr/>
        </p:nvSpPr>
        <p:spPr>
          <a:xfrm>
            <a:off x="7239000" y="44577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final test set is a more honest generalization check.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02D2F2-455A-417C-AEA4-DACDF06F876A}"/>
              </a:ext>
            </a:extLst>
          </p:cNvPr>
          <p:cNvSpPr>
            <a:spLocks noGrp="1"/>
          </p:cNvSpPr>
          <p:nvPr/>
        </p:nvSpPr>
        <p:spPr>
          <a:xfrm>
            <a:off x="1428750" y="5676900"/>
            <a:ext cx="933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split is the core methodological choice in FreshGuard: it makes the test score harder to achieve, but more meaningful.</a:t>
            </a:r>
          </a:p>
        </p:txBody>
      </p:sp>
    </p:spTree>
    <p:extLst>
      <p:ext uri="{BB962C8B-B14F-4D97-AF65-F5344CB8AC3E}">
        <p14:creationId xmlns:p14="http://schemas.microsoft.com/office/powerpoint/2010/main" val="1596804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29A7DE9-B541-4136-A49D-036E8B2EFD34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6120DF-6220-4F2C-A146-B764CDAFCF1E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Modeling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278A35-4B9F-4C01-B189-E5E7DDAA8CFC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5974D6-EF65-4337-BE16-A4058E251ECD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1FA359-DE8E-4406-8F43-ADBC486892BF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11/16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DE5282-E9D5-4E0F-9B2F-F7E221AD6FFB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224790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D3A228-2988-40D9-BE01-AA529CB85C3A}"/>
              </a:ext>
            </a:extLst>
          </p:cNvPr>
          <p:cNvSpPr>
            <a:spLocks noGrp="1"/>
          </p:cNvSpPr>
          <p:nvPr/>
        </p:nvSpPr>
        <p:spPr>
          <a:xfrm>
            <a:off x="723900" y="1962150"/>
            <a:ext cx="47625" cy="21717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CD4860-28FF-4A5C-842A-40D5C0FA45DD}"/>
              </a:ext>
            </a:extLst>
          </p:cNvPr>
          <p:cNvSpPr>
            <a:spLocks noGrp="1"/>
          </p:cNvSpPr>
          <p:nvPr/>
        </p:nvSpPr>
        <p:spPr>
          <a:xfrm>
            <a:off x="933450" y="2133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Preprocess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1BAB2A-EFB4-483A-9FE6-7F07371E3F60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18288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ImageNet normalization, 224px input, augmentation for training.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EA95C6-C522-417F-B221-C32FA5930F42}"/>
              </a:ext>
            </a:extLst>
          </p:cNvPr>
          <p:cNvSpPr>
            <a:spLocks noGrp="1"/>
          </p:cNvSpPr>
          <p:nvPr/>
        </p:nvSpPr>
        <p:spPr>
          <a:xfrm>
            <a:off x="3409950" y="1962150"/>
            <a:ext cx="224790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1EBFB8-D025-4C45-82BA-FD53F56F8DAD}"/>
              </a:ext>
            </a:extLst>
          </p:cNvPr>
          <p:cNvSpPr>
            <a:spLocks noGrp="1"/>
          </p:cNvSpPr>
          <p:nvPr/>
        </p:nvSpPr>
        <p:spPr>
          <a:xfrm>
            <a:off x="3409950" y="1962150"/>
            <a:ext cx="47625" cy="21717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FD3179-2E5E-401C-A321-A6B38B41CA79}"/>
              </a:ext>
            </a:extLst>
          </p:cNvPr>
          <p:cNvSpPr>
            <a:spLocks noGrp="1"/>
          </p:cNvSpPr>
          <p:nvPr/>
        </p:nvSpPr>
        <p:spPr>
          <a:xfrm>
            <a:off x="3619500" y="2133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116E56-13AF-4573-B282-B88FCA876BB9}"/>
              </a:ext>
            </a:extLst>
          </p:cNvPr>
          <p:cNvSpPr>
            <a:spLocks noGrp="1"/>
          </p:cNvSpPr>
          <p:nvPr/>
        </p:nvSpPr>
        <p:spPr>
          <a:xfrm>
            <a:off x="3619500" y="2514600"/>
            <a:ext cx="18288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Compare pretrained ResNet-18 and ViT-Base/16 on clean split.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6B041FB-07F1-4BC7-B066-0F7223CF9091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224790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1A5C81-25D1-4A7B-919B-6E90EFC69FC7}"/>
              </a:ext>
            </a:extLst>
          </p:cNvPr>
          <p:cNvSpPr>
            <a:spLocks noGrp="1"/>
          </p:cNvSpPr>
          <p:nvPr/>
        </p:nvSpPr>
        <p:spPr>
          <a:xfrm>
            <a:off x="6096000" y="1962150"/>
            <a:ext cx="47625" cy="21717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2BC6E-4E40-43A6-AC78-A6AED4BA0F7B}"/>
              </a:ext>
            </a:extLst>
          </p:cNvPr>
          <p:cNvSpPr>
            <a:spLocks noGrp="1"/>
          </p:cNvSpPr>
          <p:nvPr/>
        </p:nvSpPr>
        <p:spPr>
          <a:xfrm>
            <a:off x="6305550" y="2133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BED30B-B632-4433-B9C5-1E048811B66F}"/>
              </a:ext>
            </a:extLst>
          </p:cNvPr>
          <p:cNvSpPr>
            <a:spLocks noGrp="1"/>
          </p:cNvSpPr>
          <p:nvPr/>
        </p:nvSpPr>
        <p:spPr>
          <a:xfrm>
            <a:off x="6305550" y="2514600"/>
            <a:ext cx="18288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Report multiclass accuracy, macro-F1, confusion matrices, and binary Good/Bad metrics.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2A97FD-9914-4AB4-910E-E8B3A9A2DFB8}"/>
              </a:ext>
            </a:extLst>
          </p:cNvPr>
          <p:cNvSpPr>
            <a:spLocks noGrp="1"/>
          </p:cNvSpPr>
          <p:nvPr/>
        </p:nvSpPr>
        <p:spPr>
          <a:xfrm>
            <a:off x="8782050" y="1962150"/>
            <a:ext cx="2247900" cy="21717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DE187D-7771-450C-9074-87A448573490}"/>
              </a:ext>
            </a:extLst>
          </p:cNvPr>
          <p:cNvSpPr>
            <a:spLocks noGrp="1"/>
          </p:cNvSpPr>
          <p:nvPr/>
        </p:nvSpPr>
        <p:spPr>
          <a:xfrm>
            <a:off x="8782050" y="1962150"/>
            <a:ext cx="47625" cy="21717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60EF3C-34B9-46F4-B20B-731FF643E8DD}"/>
              </a:ext>
            </a:extLst>
          </p:cNvPr>
          <p:cNvSpPr>
            <a:spLocks noGrp="1"/>
          </p:cNvSpPr>
          <p:nvPr/>
        </p:nvSpPr>
        <p:spPr>
          <a:xfrm>
            <a:off x="8991600" y="2133600"/>
            <a:ext cx="1828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C936D3-A916-4F04-92F1-B85B963CD3CF}"/>
              </a:ext>
            </a:extLst>
          </p:cNvPr>
          <p:cNvSpPr>
            <a:spLocks noGrp="1"/>
          </p:cNvSpPr>
          <p:nvPr/>
        </p:nvSpPr>
        <p:spPr>
          <a:xfrm>
            <a:off x="8991600" y="2514600"/>
            <a:ext cx="1828800" cy="1447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Grad-CAM and LIME to check whether predictions focus on fruit defects.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44BDA7-44B7-43CC-9D56-B06BAD292344}"/>
              </a:ext>
            </a:extLst>
          </p:cNvPr>
          <p:cNvSpPr>
            <a:spLocks noGrp="1"/>
          </p:cNvSpPr>
          <p:nvPr/>
        </p:nvSpPr>
        <p:spPr>
          <a:xfrm>
            <a:off x="1581150" y="4914900"/>
            <a:ext cx="9029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Aptos"/>
                <a:cs typeface="Aptos"/>
              </a:rPr>
              <a:t>Model sizes: ResNet-18 = 11.2M parameters; </a:t>
            </a:r>
            <a:r>
              <a:rPr sz="1575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Aptos"/>
                <a:cs typeface="Aptos"/>
              </a:rPr>
              <a:t>ViT</a:t>
            </a:r>
            <a:r>
              <a:rPr sz="1575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Aptos"/>
                <a:cs typeface="Aptos"/>
              </a:rPr>
              <a:t>-Base/16 = 85.8M parameters.</a:t>
            </a:r>
          </a:p>
        </p:txBody>
      </p:sp>
    </p:spTree>
    <p:extLst>
      <p:ext uri="{BB962C8B-B14F-4D97-AF65-F5344CB8AC3E}">
        <p14:creationId xmlns:p14="http://schemas.microsoft.com/office/powerpoint/2010/main" val="1440501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F83A47-8FAB-4394-A392-56F1479C1DA9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0D7CAF-ECA5-4D1B-8D24-1B09D4C3B63D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Training and Final Model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66E78B-EFC4-4710-BD01-26AAD28744BC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AB64F8-F6CF-4436-8DF9-51FCC0ECC255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A0D8A5-54A1-4C5F-958C-E01CE9D2AC5D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12/16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" y="1762246"/>
            <a:ext cx="5067300" cy="31430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5D5933C-5104-4BBD-864E-7E28E4FD29E5}"/>
              </a:ext>
            </a:extLst>
          </p:cNvPr>
          <p:cNvSpPr>
            <a:spLocks noGrp="1"/>
          </p:cNvSpPr>
          <p:nvPr/>
        </p:nvSpPr>
        <p:spPr>
          <a:xfrm>
            <a:off x="6515100" y="18859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Clean Test 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D6AA38-AE55-4834-8EF7-C2719C683CA8}"/>
              </a:ext>
            </a:extLst>
          </p:cNvPr>
          <p:cNvSpPr>
            <a:spLocks noGrp="1"/>
          </p:cNvSpPr>
          <p:nvPr/>
        </p:nvSpPr>
        <p:spPr>
          <a:xfrm>
            <a:off x="6515100" y="23812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ResNet-18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7FCF9D3-D2DF-4577-BC74-AE6BF5522F63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3143250" cy="19050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6992E0-C605-476A-8F6E-93207AB91E00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3122819" cy="190500"/>
          </a:xfrm>
          <a:prstGeom prst="roundRect">
            <a:avLst>
              <a:gd name="adj" fmla="val 4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B046E-782C-49C3-9ED7-02E5227A5BD9}"/>
              </a:ext>
            </a:extLst>
          </p:cNvPr>
          <p:cNvSpPr>
            <a:spLocks noGrp="1"/>
          </p:cNvSpPr>
          <p:nvPr/>
        </p:nvSpPr>
        <p:spPr>
          <a:xfrm>
            <a:off x="11239500" y="23717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99.35%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991798-4825-43AF-A5F9-5F5CE08ED9FD}"/>
              </a:ext>
            </a:extLst>
          </p:cNvPr>
          <p:cNvSpPr>
            <a:spLocks noGrp="1"/>
          </p:cNvSpPr>
          <p:nvPr/>
        </p:nvSpPr>
        <p:spPr>
          <a:xfrm>
            <a:off x="6515100" y="28575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ViT-Base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CE2FA51-588F-4FA6-9F0F-4A37ABEF2668}"/>
              </a:ext>
            </a:extLst>
          </p:cNvPr>
          <p:cNvSpPr>
            <a:spLocks noGrp="1"/>
          </p:cNvSpPr>
          <p:nvPr/>
        </p:nvSpPr>
        <p:spPr>
          <a:xfrm>
            <a:off x="7924800" y="2876550"/>
            <a:ext cx="3143250" cy="19050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D8AE10-26C9-444D-A7C5-0759C193FCF1}"/>
              </a:ext>
            </a:extLst>
          </p:cNvPr>
          <p:cNvSpPr>
            <a:spLocks noGrp="1"/>
          </p:cNvSpPr>
          <p:nvPr/>
        </p:nvSpPr>
        <p:spPr>
          <a:xfrm>
            <a:off x="7924800" y="2876550"/>
            <a:ext cx="3091072" cy="190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67C83F-89B4-4D03-A3C8-36E38C848C68}"/>
              </a:ext>
            </a:extLst>
          </p:cNvPr>
          <p:cNvSpPr>
            <a:spLocks noGrp="1"/>
          </p:cNvSpPr>
          <p:nvPr/>
        </p:nvSpPr>
        <p:spPr>
          <a:xfrm>
            <a:off x="11239500" y="284797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98.34%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EAFFB9-E554-4AE0-B608-DE9254D8F058}"/>
              </a:ext>
            </a:extLst>
          </p:cNvPr>
          <p:cNvSpPr>
            <a:spLocks noGrp="1"/>
          </p:cNvSpPr>
          <p:nvPr/>
        </p:nvSpPr>
        <p:spPr>
          <a:xfrm>
            <a:off x="6515100" y="35623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Macro-F1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68FAEA-7CB9-4D28-9D4B-A4024C857D29}"/>
              </a:ext>
            </a:extLst>
          </p:cNvPr>
          <p:cNvSpPr>
            <a:spLocks noGrp="1"/>
          </p:cNvSpPr>
          <p:nvPr/>
        </p:nvSpPr>
        <p:spPr>
          <a:xfrm>
            <a:off x="6515100" y="40576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ResNet-18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711A2EC-BD06-4424-8A9A-B49D5361467C}"/>
              </a:ext>
            </a:extLst>
          </p:cNvPr>
          <p:cNvSpPr>
            <a:spLocks noGrp="1"/>
          </p:cNvSpPr>
          <p:nvPr/>
        </p:nvSpPr>
        <p:spPr>
          <a:xfrm>
            <a:off x="7924800" y="4076700"/>
            <a:ext cx="3143250" cy="19050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B2F130A-B205-4E12-8026-BD8DCA62462A}"/>
              </a:ext>
            </a:extLst>
          </p:cNvPr>
          <p:cNvSpPr>
            <a:spLocks noGrp="1"/>
          </p:cNvSpPr>
          <p:nvPr/>
        </p:nvSpPr>
        <p:spPr>
          <a:xfrm>
            <a:off x="7924800" y="4076700"/>
            <a:ext cx="3121247" cy="190500"/>
          </a:xfrm>
          <a:prstGeom prst="roundRect">
            <a:avLst>
              <a:gd name="adj" fmla="val 40000"/>
            </a:avLst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2B4879-D7FA-4E04-8C48-020D72CA81B8}"/>
              </a:ext>
            </a:extLst>
          </p:cNvPr>
          <p:cNvSpPr>
            <a:spLocks noGrp="1"/>
          </p:cNvSpPr>
          <p:nvPr/>
        </p:nvSpPr>
        <p:spPr>
          <a:xfrm>
            <a:off x="11239500" y="404812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99.30%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7E8579-7D4E-4772-94C2-7A478E50799D}"/>
              </a:ext>
            </a:extLst>
          </p:cNvPr>
          <p:cNvSpPr>
            <a:spLocks noGrp="1"/>
          </p:cNvSpPr>
          <p:nvPr/>
        </p:nvSpPr>
        <p:spPr>
          <a:xfrm>
            <a:off x="6515100" y="453390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ViT-Base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F70EC3F-6C45-48DC-9109-85BD34872FD2}"/>
              </a:ext>
            </a:extLst>
          </p:cNvPr>
          <p:cNvSpPr>
            <a:spLocks noGrp="1"/>
          </p:cNvSpPr>
          <p:nvPr/>
        </p:nvSpPr>
        <p:spPr>
          <a:xfrm>
            <a:off x="7924800" y="4552950"/>
            <a:ext cx="3143250" cy="190500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9922D70-0099-4744-BAE9-CBFE3126228F}"/>
              </a:ext>
            </a:extLst>
          </p:cNvPr>
          <p:cNvSpPr>
            <a:spLocks noGrp="1"/>
          </p:cNvSpPr>
          <p:nvPr/>
        </p:nvSpPr>
        <p:spPr>
          <a:xfrm>
            <a:off x="7924800" y="4552950"/>
            <a:ext cx="3080699" cy="19050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6C590B-B15E-4E60-BABA-EC24759497D7}"/>
              </a:ext>
            </a:extLst>
          </p:cNvPr>
          <p:cNvSpPr>
            <a:spLocks noGrp="1"/>
          </p:cNvSpPr>
          <p:nvPr/>
        </p:nvSpPr>
        <p:spPr>
          <a:xfrm>
            <a:off x="11239500" y="4524375"/>
            <a:ext cx="83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98.01%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570691-6C29-4177-A212-08EA9EE0C81B}"/>
              </a:ext>
            </a:extLst>
          </p:cNvPr>
          <p:cNvSpPr>
            <a:spLocks noGrp="1"/>
          </p:cNvSpPr>
          <p:nvPr/>
        </p:nvSpPr>
        <p:spPr>
          <a:xfrm>
            <a:off x="1371600" y="5543550"/>
            <a:ext cx="942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ResNet-18 performed slightly better while being much smaller, making it the stronger deployment candidate.</a:t>
            </a:r>
          </a:p>
        </p:txBody>
      </p:sp>
    </p:spTree>
    <p:extLst>
      <p:ext uri="{BB962C8B-B14F-4D97-AF65-F5344CB8AC3E}">
        <p14:creationId xmlns:p14="http://schemas.microsoft.com/office/powerpoint/2010/main" val="1297968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AB5E2F2-D959-448B-97F5-055DDD24940D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29183-DBCA-416E-ABE6-28986EAC3F28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Confusion Matrix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3D6B21-D7B2-45AB-B57B-07430DCC50AA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DD496E-CC36-468D-A562-57C84B892930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0F254-C283-4400-82A8-1F0092B5DDAD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13/16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8200" y="1662353"/>
            <a:ext cx="4953000" cy="395239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9444D2-566F-490B-90C4-8DE5F9AB4A62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41719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34F975-3B59-4498-BA6D-D9509EBFD5F7}"/>
              </a:ext>
            </a:extLst>
          </p:cNvPr>
          <p:cNvSpPr>
            <a:spLocks noGrp="1"/>
          </p:cNvSpPr>
          <p:nvPr/>
        </p:nvSpPr>
        <p:spPr>
          <a:xfrm>
            <a:off x="6496050" y="1809750"/>
            <a:ext cx="47625" cy="127635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73EC3-5D6C-4313-A43B-2231E084C95E}"/>
              </a:ext>
            </a:extLst>
          </p:cNvPr>
          <p:cNvSpPr>
            <a:spLocks noGrp="1"/>
          </p:cNvSpPr>
          <p:nvPr/>
        </p:nvSpPr>
        <p:spPr>
          <a:xfrm>
            <a:off x="6705600" y="1981200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to look for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CFBBE7-C624-40EE-81A5-1B769319575C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3752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strong confusion matrix is mostly diagonal. This means each fruit-quality class is usually predicted as itself.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AB24A7-3C61-430F-AA49-385A321D5CA5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4171950" cy="1276350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CAFD4-4880-4D09-B7F3-619815A03505}"/>
              </a:ext>
            </a:extLst>
          </p:cNvPr>
          <p:cNvSpPr>
            <a:spLocks noGrp="1"/>
          </p:cNvSpPr>
          <p:nvPr/>
        </p:nvSpPr>
        <p:spPr>
          <a:xfrm>
            <a:off x="6496050" y="3352800"/>
            <a:ext cx="47625" cy="12763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EC983-DC2B-47A5-8720-2034EB4E883A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ResNet-18 result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5C6305-749C-47CC-96B5-19615C7ABB12}"/>
              </a:ext>
            </a:extLst>
          </p:cNvPr>
          <p:cNvSpPr>
            <a:spLocks noGrp="1"/>
          </p:cNvSpPr>
          <p:nvPr/>
        </p:nvSpPr>
        <p:spPr>
          <a:xfrm>
            <a:off x="6705600" y="3905250"/>
            <a:ext cx="3752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ResNet matrix is almost fully diagonal on the clean test set, with only a small number of off-diagonal mistakes.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A48BCE4-6413-4083-A4D7-8648988F0E09}"/>
              </a:ext>
            </a:extLst>
          </p:cNvPr>
          <p:cNvSpPr>
            <a:spLocks noGrp="1"/>
          </p:cNvSpPr>
          <p:nvPr/>
        </p:nvSpPr>
        <p:spPr>
          <a:xfrm>
            <a:off x="6496050" y="4762500"/>
            <a:ext cx="41719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0C9BDA-3A49-4409-AC5C-502142757AAF}"/>
              </a:ext>
            </a:extLst>
          </p:cNvPr>
          <p:cNvSpPr>
            <a:spLocks noGrp="1"/>
          </p:cNvSpPr>
          <p:nvPr/>
        </p:nvSpPr>
        <p:spPr>
          <a:xfrm>
            <a:off x="6496050" y="4762500"/>
            <a:ext cx="47625" cy="12001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024B09-50BF-42DC-AB32-5F8893DD8AFD}"/>
              </a:ext>
            </a:extLst>
          </p:cNvPr>
          <p:cNvSpPr>
            <a:spLocks noGrp="1"/>
          </p:cNvSpPr>
          <p:nvPr/>
        </p:nvSpPr>
        <p:spPr>
          <a:xfrm>
            <a:off x="6705600" y="4933950"/>
            <a:ext cx="3752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include 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38D554-D1F5-4D3F-B291-ED2961EC3B59}"/>
              </a:ext>
            </a:extLst>
          </p:cNvPr>
          <p:cNvSpPr>
            <a:spLocks noGrp="1"/>
          </p:cNvSpPr>
          <p:nvPr/>
        </p:nvSpPr>
        <p:spPr>
          <a:xfrm>
            <a:off x="6705600" y="5314950"/>
            <a:ext cx="3752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Accuracy gives one number. The matrix shows which classes are still confused.</a:t>
            </a:r>
          </a:p>
        </p:txBody>
      </p:sp>
    </p:spTree>
    <p:extLst>
      <p:ext uri="{BB962C8B-B14F-4D97-AF65-F5344CB8AC3E}">
        <p14:creationId xmlns:p14="http://schemas.microsoft.com/office/powerpoint/2010/main" val="2038603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0920263-9DCA-4B9B-B2A3-8763A7367658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5E5B9B7-1AE2-4197-B4A2-4BDEABCD8271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Production View: Good/Bad Monitoring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4B08E1-84E1-43C4-9014-8F6FEC5E6DD6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5D06B4-F0BD-43F3-BC8C-1068C92C621A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A39464-1276-459C-943E-2C7813E3FE92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14/16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87CEEF-5D6B-491D-BBE2-A12EFD5D9933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30861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8617C-C2DD-4ECB-A941-F005DC984AF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47625" cy="234315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AA7A50-29F8-4B44-8171-0DA5171B1A79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Why binary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0411FB-57E8-467A-A1D8-098FD60B8D33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For a production-line system, the key decision is often Accept or Reject, not just the exact fruit class.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5FC0074-DDC3-4D95-8DF3-F70695B59681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30861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454F75-21A4-474F-B044-808E593D5E77}"/>
              </a:ext>
            </a:extLst>
          </p:cNvPr>
          <p:cNvSpPr>
            <a:spLocks noGrp="1"/>
          </p:cNvSpPr>
          <p:nvPr/>
        </p:nvSpPr>
        <p:spPr>
          <a:xfrm>
            <a:off x="4552950" y="1924050"/>
            <a:ext cx="47625" cy="234315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3F7056-3AA8-4273-A555-A9DF7A65A706}"/>
              </a:ext>
            </a:extLst>
          </p:cNvPr>
          <p:cNvSpPr>
            <a:spLocks noGrp="1"/>
          </p:cNvSpPr>
          <p:nvPr/>
        </p:nvSpPr>
        <p:spPr>
          <a:xfrm>
            <a:off x="4762500" y="2095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False accept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E01C6-D4B6-4D69-AD82-9107321C00AD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Bad fruit predicted as Good. This is the highest-risk error because defective fruit may be shipped.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9CF88D1-148E-4AD0-BC7B-DBB8E1958727}"/>
              </a:ext>
            </a:extLst>
          </p:cNvPr>
          <p:cNvSpPr>
            <a:spLocks noGrp="1"/>
          </p:cNvSpPr>
          <p:nvPr/>
        </p:nvSpPr>
        <p:spPr>
          <a:xfrm>
            <a:off x="8172450" y="1924050"/>
            <a:ext cx="30861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69D55-4AFB-40BD-865C-CAD508C94E79}"/>
              </a:ext>
            </a:extLst>
          </p:cNvPr>
          <p:cNvSpPr>
            <a:spLocks noGrp="1"/>
          </p:cNvSpPr>
          <p:nvPr/>
        </p:nvSpPr>
        <p:spPr>
          <a:xfrm>
            <a:off x="8172450" y="1924050"/>
            <a:ext cx="47625" cy="23431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7D57EF-3D2C-4F7C-ACB5-226BAA344CCC}"/>
              </a:ext>
            </a:extLst>
          </p:cNvPr>
          <p:cNvSpPr>
            <a:spLocks noGrp="1"/>
          </p:cNvSpPr>
          <p:nvPr/>
        </p:nvSpPr>
        <p:spPr>
          <a:xfrm>
            <a:off x="8382000" y="20955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False reject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6D2B5B-3017-4F27-BA57-35FD0613BE25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2667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Good fruit predicted as Bad. This wastes usable fruit,</a:t>
            </a:r>
            <a:r>
              <a:rPr lang="en-US"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 </a:t>
            </a:r>
            <a:r>
              <a:rPr sz="1350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but is usually less risky than false accept.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473963-59FB-4ED9-A0DC-BC31943B8D16}"/>
              </a:ext>
            </a:extLst>
          </p:cNvPr>
          <p:cNvSpPr>
            <a:spLocks noGrp="1"/>
          </p:cNvSpPr>
          <p:nvPr/>
        </p:nvSpPr>
        <p:spPr>
          <a:xfrm>
            <a:off x="1733550" y="4762500"/>
            <a:ext cx="2190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B2F703-F087-4FC6-91CB-6B982F8BF8FC}"/>
              </a:ext>
            </a:extLst>
          </p:cNvPr>
          <p:cNvSpPr>
            <a:spLocks noGrp="1"/>
          </p:cNvSpPr>
          <p:nvPr/>
        </p:nvSpPr>
        <p:spPr>
          <a:xfrm>
            <a:off x="1905000" y="4972050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99.82%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0479F4-1A0D-49EF-ABF4-0D3092FEF5C2}"/>
              </a:ext>
            </a:extLst>
          </p:cNvPr>
          <p:cNvSpPr>
            <a:spLocks noGrp="1"/>
          </p:cNvSpPr>
          <p:nvPr/>
        </p:nvSpPr>
        <p:spPr>
          <a:xfrm>
            <a:off x="1905000" y="55435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ResNet-18 binary accuracy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661713-626A-4CA9-AD74-99F15FC13177}"/>
              </a:ext>
            </a:extLst>
          </p:cNvPr>
          <p:cNvSpPr>
            <a:spLocks noGrp="1"/>
          </p:cNvSpPr>
          <p:nvPr/>
        </p:nvSpPr>
        <p:spPr>
          <a:xfrm>
            <a:off x="5010150" y="4762500"/>
            <a:ext cx="2190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6B2FFA-F794-42F3-9AED-9CC2A4610B64}"/>
              </a:ext>
            </a:extLst>
          </p:cNvPr>
          <p:cNvSpPr>
            <a:spLocks noGrp="1"/>
          </p:cNvSpPr>
          <p:nvPr/>
        </p:nvSpPr>
        <p:spPr>
          <a:xfrm>
            <a:off x="5181600" y="4972050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DC2626"/>
                </a:solidFill>
                <a:latin typeface="Aptos Display"/>
                <a:ea typeface="Aptos Display"/>
                <a:cs typeface="Aptos Display"/>
              </a:rPr>
              <a:t>0.37%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06085E-62BC-461A-BFFC-A0F5447A5EE7}"/>
              </a:ext>
            </a:extLst>
          </p:cNvPr>
          <p:cNvSpPr>
            <a:spLocks noGrp="1"/>
          </p:cNvSpPr>
          <p:nvPr/>
        </p:nvSpPr>
        <p:spPr>
          <a:xfrm>
            <a:off x="5181600" y="55435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ResNet-18 false accept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B70748-30A0-4260-A320-DF3A378B390D}"/>
              </a:ext>
            </a:extLst>
          </p:cNvPr>
          <p:cNvSpPr>
            <a:spLocks noGrp="1"/>
          </p:cNvSpPr>
          <p:nvPr/>
        </p:nvSpPr>
        <p:spPr>
          <a:xfrm>
            <a:off x="8286750" y="4762500"/>
            <a:ext cx="219075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E891C9-F5D9-4BA8-9398-9858CE6EFA3E}"/>
              </a:ext>
            </a:extLst>
          </p:cNvPr>
          <p:cNvSpPr>
            <a:spLocks noGrp="1"/>
          </p:cNvSpPr>
          <p:nvPr/>
        </p:nvSpPr>
        <p:spPr>
          <a:xfrm>
            <a:off x="8458200" y="4972050"/>
            <a:ext cx="1847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0.00%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86125B-EC5C-4BBA-BB3C-868A7D84754C}"/>
              </a:ext>
            </a:extLst>
          </p:cNvPr>
          <p:cNvSpPr>
            <a:spLocks noGrp="1"/>
          </p:cNvSpPr>
          <p:nvPr/>
        </p:nvSpPr>
        <p:spPr>
          <a:xfrm>
            <a:off x="8458200" y="55435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ResNet-18 false reject</a:t>
            </a:r>
          </a:p>
        </p:txBody>
      </p:sp>
    </p:spTree>
    <p:extLst>
      <p:ext uri="{BB962C8B-B14F-4D97-AF65-F5344CB8AC3E}">
        <p14:creationId xmlns:p14="http://schemas.microsoft.com/office/powerpoint/2010/main" val="1284959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913D65C-C99C-4913-961E-2BA0BA1546F6}"/>
              </a:ext>
            </a:extLst>
          </p:cNvPr>
          <p:cNvSpPr>
            <a:spLocks noGrp="1"/>
          </p:cNvSpPr>
          <p:nvPr/>
        </p:nvSpPr>
        <p:spPr>
          <a:xfrm>
            <a:off x="723900" y="4000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FRESHGUARD IMCS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DEDBD5-D621-46C6-BFD1-BF2DD923CA54}"/>
              </a:ext>
            </a:extLst>
          </p:cNvPr>
          <p:cNvSpPr>
            <a:spLocks noGrp="1"/>
          </p:cNvSpPr>
          <p:nvPr/>
        </p:nvSpPr>
        <p:spPr>
          <a:xfrm>
            <a:off x="723900" y="723900"/>
            <a:ext cx="8286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Explainability and Trust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80DE86-2C3B-423D-BEA2-6A5FB085FB04}"/>
              </a:ext>
            </a:extLst>
          </p:cNvPr>
          <p:cNvSpPr>
            <a:spLocks noGrp="1"/>
          </p:cNvSpPr>
          <p:nvPr/>
        </p:nvSpPr>
        <p:spPr>
          <a:xfrm>
            <a:off x="8020050" y="447675"/>
            <a:ext cx="3448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71391F-DC73-4F95-8663-FB287F2B67AE}"/>
              </a:ext>
            </a:extLst>
          </p:cNvPr>
          <p:cNvSpPr>
            <a:spLocks noGrp="1"/>
          </p:cNvSpPr>
          <p:nvPr/>
        </p:nvSpPr>
        <p:spPr>
          <a:xfrm>
            <a:off x="723900" y="1362075"/>
            <a:ext cx="10744200" cy="9525"/>
          </a:xfrm>
          <a:prstGeom prst="rect">
            <a:avLst/>
          </a:prstGeom>
          <a:solidFill>
            <a:srgbClr val="D6DEE6"/>
          </a:solidFill>
          <a:ln w="0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75CB77-F56F-4B02-A7EF-9F1B49EA6E32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15/16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850" y="1830818"/>
            <a:ext cx="7753350" cy="203431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l="15785" r="15785"/>
          <a:stretch>
            <a:fillRect/>
          </a:stretch>
        </p:blipFill>
        <p:spPr>
          <a:xfrm>
            <a:off x="8743950" y="1657350"/>
            <a:ext cx="2571750" cy="238125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6D60031-FB72-43D7-A1E9-66027B31572B}"/>
              </a:ext>
            </a:extLst>
          </p:cNvPr>
          <p:cNvSpPr>
            <a:spLocks noGrp="1"/>
          </p:cNvSpPr>
          <p:nvPr/>
        </p:nvSpPr>
        <p:spPr>
          <a:xfrm>
            <a:off x="1123950" y="4495800"/>
            <a:ext cx="4762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F1DBB-AC34-421D-8934-74076ED9D281}"/>
              </a:ext>
            </a:extLst>
          </p:cNvPr>
          <p:cNvSpPr>
            <a:spLocks noGrp="1"/>
          </p:cNvSpPr>
          <p:nvPr/>
        </p:nvSpPr>
        <p:spPr>
          <a:xfrm>
            <a:off x="1123950" y="4495800"/>
            <a:ext cx="47625" cy="13335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15E62-2EBB-474F-A059-0B6373568C6E}"/>
              </a:ext>
            </a:extLst>
          </p:cNvPr>
          <p:cNvSpPr>
            <a:spLocks noGrp="1"/>
          </p:cNvSpPr>
          <p:nvPr/>
        </p:nvSpPr>
        <p:spPr>
          <a:xfrm>
            <a:off x="1333500" y="4667250"/>
            <a:ext cx="434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the explanations show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FBC2A0-EF1F-40AC-A7FE-4B0742DB5FCB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4343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Grad-CAM and LIME highlight the fruit body and defect regions. This supports the claim that predictions use visual quality cues, not only background noise.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0BDD98-BF61-4913-9ACD-35E02E9D319A}"/>
              </a:ext>
            </a:extLst>
          </p:cNvPr>
          <p:cNvSpPr>
            <a:spLocks noGrp="1"/>
          </p:cNvSpPr>
          <p:nvPr/>
        </p:nvSpPr>
        <p:spPr>
          <a:xfrm>
            <a:off x="6343650" y="4495800"/>
            <a:ext cx="47625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190B32-C766-4F28-BD5C-8C558BD70014}"/>
              </a:ext>
            </a:extLst>
          </p:cNvPr>
          <p:cNvSpPr>
            <a:spLocks noGrp="1"/>
          </p:cNvSpPr>
          <p:nvPr/>
        </p:nvSpPr>
        <p:spPr>
          <a:xfrm>
            <a:off x="6343650" y="4495800"/>
            <a:ext cx="47625" cy="13335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34563B-1178-47A8-8C6E-1EBE35A3C6A6}"/>
              </a:ext>
            </a:extLst>
          </p:cNvPr>
          <p:cNvSpPr>
            <a:spLocks noGrp="1"/>
          </p:cNvSpPr>
          <p:nvPr/>
        </p:nvSpPr>
        <p:spPr>
          <a:xfrm>
            <a:off x="6553200" y="4667250"/>
            <a:ext cx="434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What t-SNE adds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D891E2-2CE1-40F0-8784-D682871C5A08}"/>
              </a:ext>
            </a:extLst>
          </p:cNvPr>
          <p:cNvSpPr>
            <a:spLocks noGrp="1"/>
          </p:cNvSpPr>
          <p:nvPr/>
        </p:nvSpPr>
        <p:spPr>
          <a:xfrm>
            <a:off x="6553200" y="5048250"/>
            <a:ext cx="4343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embedding plot gives a quick view of class separability. Clearer clusters suggest the model learned useful visual representations.</a:t>
            </a:r>
          </a:p>
        </p:txBody>
      </p:sp>
    </p:spTree>
    <p:extLst>
      <p:ext uri="{BB962C8B-B14F-4D97-AF65-F5344CB8AC3E}">
        <p14:creationId xmlns:p14="http://schemas.microsoft.com/office/powerpoint/2010/main" val="1781953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CB35EE9-E5BC-48B5-8D1C-D86ADC37F737}"/>
              </a:ext>
            </a:extLst>
          </p:cNvPr>
          <p:cNvSpPr>
            <a:spLocks noGrp="1"/>
          </p:cNvSpPr>
          <p:nvPr/>
        </p:nvSpPr>
        <p:spPr>
          <a:xfrm>
            <a:off x="876300" y="704850"/>
            <a:ext cx="647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Conclusion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E2FBEA-8BD1-4A39-A80B-6C08BD06A869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FreshGuard is strongest because it treats evaluation honestly, not just optimistically.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446E8D8-CFAB-497A-8E29-2C1C93757D5C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DA96B-4A23-4882-A8A9-BDF0BE7B9C53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47625" cy="16764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EB15BA-20BC-4996-80CD-1C3238FFC324}"/>
              </a:ext>
            </a:extLst>
          </p:cNvPr>
          <p:cNvSpPr>
            <a:spLocks noGrp="1"/>
          </p:cNvSpPr>
          <p:nvPr/>
        </p:nvSpPr>
        <p:spPr>
          <a:xfrm>
            <a:off x="1123950" y="25527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Leakage matters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FB24CF-EC92-47D6-9A5A-427EDFF23B64}"/>
              </a:ext>
            </a:extLst>
          </p:cNvPr>
          <p:cNvSpPr>
            <a:spLocks noGrp="1"/>
          </p:cNvSpPr>
          <p:nvPr/>
        </p:nvSpPr>
        <p:spPr>
          <a:xfrm>
            <a:off x="1123950" y="2933700"/>
            <a:ext cx="2724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naive split had 57.31% near-duplicate leakage, which could overstate model quality.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266257-C5F7-4DDF-8026-7BCD038E62E1}"/>
              </a:ext>
            </a:extLst>
          </p:cNvPr>
          <p:cNvSpPr>
            <a:spLocks noGrp="1"/>
          </p:cNvSpPr>
          <p:nvPr/>
        </p:nvSpPr>
        <p:spPr>
          <a:xfrm>
            <a:off x="4533900" y="23812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D9C25-9764-426D-90AB-1D33FCD6CA07}"/>
              </a:ext>
            </a:extLst>
          </p:cNvPr>
          <p:cNvSpPr>
            <a:spLocks noGrp="1"/>
          </p:cNvSpPr>
          <p:nvPr/>
        </p:nvSpPr>
        <p:spPr>
          <a:xfrm>
            <a:off x="4533900" y="2381250"/>
            <a:ext cx="47625" cy="1676400"/>
          </a:xfrm>
          <a:prstGeom prst="rect">
            <a:avLst/>
          </a:prstGeom>
          <a:solidFill>
            <a:srgbClr val="047857"/>
          </a:solidFill>
          <a:ln w="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7DCB95-BC6B-4ED6-BA59-EDD123628AF5}"/>
              </a:ext>
            </a:extLst>
          </p:cNvPr>
          <p:cNvSpPr>
            <a:spLocks noGrp="1"/>
          </p:cNvSpPr>
          <p:nvPr/>
        </p:nvSpPr>
        <p:spPr>
          <a:xfrm>
            <a:off x="4743450" y="25527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Clean testing matters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5A031C-8649-4A94-8B0E-52CB9FD7352A}"/>
              </a:ext>
            </a:extLst>
          </p:cNvPr>
          <p:cNvSpPr>
            <a:spLocks noGrp="1"/>
          </p:cNvSpPr>
          <p:nvPr/>
        </p:nvSpPr>
        <p:spPr>
          <a:xfrm>
            <a:off x="4743450" y="2933700"/>
            <a:ext cx="2724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group-aware split removed leakage and kept a clean 1,083-image test set.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3E31BD-F09D-44EE-AEA1-EDAA8E0F398B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3143250" cy="16764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D6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B5C683-DAD0-4B82-9F53-2C0724349420}"/>
              </a:ext>
            </a:extLst>
          </p:cNvPr>
          <p:cNvSpPr>
            <a:spLocks noGrp="1"/>
          </p:cNvSpPr>
          <p:nvPr/>
        </p:nvSpPr>
        <p:spPr>
          <a:xfrm>
            <a:off x="8153400" y="2381250"/>
            <a:ext cx="47625" cy="167640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F14932-CE4A-4184-B39A-AD16B1FBDE4A}"/>
              </a:ext>
            </a:extLst>
          </p:cNvPr>
          <p:cNvSpPr>
            <a:spLocks noGrp="1"/>
          </p:cNvSpPr>
          <p:nvPr/>
        </p:nvSpPr>
        <p:spPr>
          <a:xfrm>
            <a:off x="8362950" y="255270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Deployment matters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48C24E-2FBE-4B94-B3DD-5BA0E6110B8B}"/>
              </a:ext>
            </a:extLst>
          </p:cNvPr>
          <p:cNvSpPr>
            <a:spLocks noGrp="1"/>
          </p:cNvSpPr>
          <p:nvPr/>
        </p:nvSpPr>
        <p:spPr>
          <a:xfrm>
            <a:off x="8362950" y="2933700"/>
            <a:ext cx="27241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ResNet-18 gave strong accuracy with fewer parameters and lower false-accept risk.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91952B-5418-4CBD-936F-D32406223278}"/>
              </a:ext>
            </a:extLst>
          </p:cNvPr>
          <p:cNvSpPr>
            <a:spLocks noGrp="1"/>
          </p:cNvSpPr>
          <p:nvPr/>
        </p:nvSpPr>
        <p:spPr>
          <a:xfrm>
            <a:off x="1200150" y="4838700"/>
            <a:ext cx="9791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1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Future work: </a:t>
            </a:r>
            <a:r>
              <a:rPr sz="14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edge deployment with </a:t>
            </a:r>
            <a:r>
              <a:rPr sz="142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MobileNet</a:t>
            </a:r>
            <a:r>
              <a:rPr sz="14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/</a:t>
            </a:r>
            <a:r>
              <a:rPr sz="1425" b="0" dirty="0" err="1">
                <a:solidFill>
                  <a:srgbClr val="475569"/>
                </a:solidFill>
                <a:latin typeface="Aptos"/>
                <a:ea typeface="Aptos"/>
                <a:cs typeface="Aptos"/>
              </a:rPr>
              <a:t>EfficientNet</a:t>
            </a:r>
            <a:r>
              <a:rPr sz="1425" b="0" dirty="0">
                <a:solidFill>
                  <a:srgbClr val="475569"/>
                </a:solidFill>
                <a:latin typeface="Aptos"/>
                <a:ea typeface="Aptos"/>
                <a:cs typeface="Aptos"/>
              </a:rPr>
              <a:t>, quantization, threshold tuning, and anomaly detection trained only on Good fruit.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619AD-D912-443F-96D6-18F9776722DB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47857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BF2141-0894-438E-8820-C59C7737FDE2}"/>
              </a:ext>
            </a:extLst>
          </p:cNvPr>
          <p:cNvSpPr>
            <a:spLocks noGrp="1"/>
          </p:cNvSpPr>
          <p:nvPr/>
        </p:nvSpPr>
        <p:spPr>
          <a:xfrm>
            <a:off x="6838950" y="5943600"/>
            <a:ext cx="4629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Abrar Mustafa | Student ID: 925259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9155E2-2FFC-4B4F-AB65-02A46A3D38FE}"/>
              </a:ext>
            </a:extLst>
          </p:cNvPr>
          <p:cNvSpPr>
            <a:spLocks noGrp="1"/>
          </p:cNvSpPr>
          <p:nvPr/>
        </p:nvSpPr>
        <p:spPr>
          <a:xfrm>
            <a:off x="10744200" y="6324600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16/16</a:t>
            </a:r>
          </a:p>
        </p:txBody>
      </p:sp>
    </p:spTree>
    <p:extLst>
      <p:ext uri="{BB962C8B-B14F-4D97-AF65-F5344CB8AC3E}">
        <p14:creationId xmlns:p14="http://schemas.microsoft.com/office/powerpoint/2010/main" val="5322159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1158</Words>
  <Application>Microsoft Office PowerPoint</Application>
  <DocSecurity>0</DocSecurity>
  <PresentationFormat>Widescreen</PresentationFormat>
  <Paragraphs>200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a.mustafa5@campus.unimib.it</cp:lastModifiedBy>
  <cp:revision>15</cp:revision>
  <dcterms:created xsi:type="dcterms:W3CDTF">2026-06-17T19:21:20Z</dcterms:created>
  <dcterms:modified xsi:type="dcterms:W3CDTF">2026-06-17T20:02:45Z</dcterms:modified>
</cp:coreProperties>
</file>